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9536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9536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9536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9536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9536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5F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866775"/>
          </a:xfrm>
          <a:custGeom>
            <a:avLst/>
            <a:gdLst/>
            <a:ahLst/>
            <a:cxnLst/>
            <a:rect l="l" t="t" r="r" b="b"/>
            <a:pathLst>
              <a:path w="9144000" h="866775">
                <a:moveTo>
                  <a:pt x="9144000" y="0"/>
                </a:moveTo>
                <a:lnTo>
                  <a:pt x="0" y="0"/>
                </a:lnTo>
                <a:lnTo>
                  <a:pt x="0" y="866775"/>
                </a:lnTo>
                <a:lnTo>
                  <a:pt x="9144000" y="866775"/>
                </a:lnTo>
                <a:lnTo>
                  <a:pt x="9144000" y="0"/>
                </a:lnTo>
                <a:close/>
              </a:path>
            </a:pathLst>
          </a:custGeom>
          <a:solidFill>
            <a:srgbClr val="1E2A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866775"/>
            <a:ext cx="9144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9144000" y="0"/>
                </a:moveTo>
                <a:lnTo>
                  <a:pt x="0" y="0"/>
                </a:lnTo>
                <a:lnTo>
                  <a:pt x="0" y="57150"/>
                </a:lnTo>
                <a:lnTo>
                  <a:pt x="9144000" y="57150"/>
                </a:lnTo>
                <a:lnTo>
                  <a:pt x="914400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5134" y="185038"/>
            <a:ext cx="5541010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2750" y="1136650"/>
            <a:ext cx="8318500" cy="3289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6169" y="4856196"/>
            <a:ext cx="281940" cy="18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49536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E2A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2450" y="914400"/>
            <a:ext cx="104775" cy="1828800"/>
          </a:xfrm>
          <a:custGeom>
            <a:avLst/>
            <a:gdLst/>
            <a:ahLst/>
            <a:cxnLst/>
            <a:rect l="l" t="t" r="r" b="b"/>
            <a:pathLst>
              <a:path w="104775" h="1828800">
                <a:moveTo>
                  <a:pt x="104775" y="0"/>
                </a:moveTo>
                <a:lnTo>
                  <a:pt x="0" y="0"/>
                </a:lnTo>
                <a:lnTo>
                  <a:pt x="0" y="1828800"/>
                </a:lnTo>
                <a:lnTo>
                  <a:pt x="104775" y="1828800"/>
                </a:lnTo>
                <a:lnTo>
                  <a:pt x="104775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6932" y="838835"/>
            <a:ext cx="6483985" cy="1118870"/>
          </a:xfrm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45"/>
              </a:spcBef>
            </a:pPr>
            <a:r>
              <a:rPr dirty="0" sz="3600"/>
              <a:t>Smart</a:t>
            </a:r>
            <a:r>
              <a:rPr dirty="0" sz="3600" spc="-40"/>
              <a:t> </a:t>
            </a:r>
            <a:r>
              <a:rPr dirty="0" sz="3600" spc="-10"/>
              <a:t>Resource</a:t>
            </a:r>
            <a:r>
              <a:rPr dirty="0" sz="3600" spc="-195"/>
              <a:t> </a:t>
            </a:r>
            <a:r>
              <a:rPr dirty="0" sz="3600"/>
              <a:t>Allocation</a:t>
            </a:r>
            <a:r>
              <a:rPr dirty="0" sz="3600" spc="-70"/>
              <a:t> </a:t>
            </a:r>
            <a:r>
              <a:rPr dirty="0" sz="3600" spc="-10"/>
              <a:t>Using Banker's</a:t>
            </a:r>
            <a:r>
              <a:rPr dirty="0" sz="3600" spc="-195"/>
              <a:t> </a:t>
            </a:r>
            <a:r>
              <a:rPr dirty="0" sz="3600" spc="-10"/>
              <a:t>Algorithm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449262" y="2085022"/>
            <a:ext cx="7867650" cy="230187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419734" marR="5080">
              <a:lnSpc>
                <a:spcPts val="2100"/>
              </a:lnSpc>
              <a:spcBef>
                <a:spcPts val="220"/>
              </a:spcBef>
            </a:pP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A</a:t>
            </a:r>
            <a:r>
              <a:rPr dirty="0" sz="1800" spc="-125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resource</a:t>
            </a:r>
            <a:r>
              <a:rPr dirty="0" sz="1800" spc="-70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manager</a:t>
            </a:r>
            <a:r>
              <a:rPr dirty="0" sz="1800" spc="-20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that</a:t>
            </a:r>
            <a:r>
              <a:rPr dirty="0" sz="1800" spc="5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avoids</a:t>
            </a:r>
            <a:r>
              <a:rPr dirty="0" sz="1800" spc="25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deadlock</a:t>
            </a:r>
            <a:r>
              <a:rPr dirty="0" sz="1800" spc="-20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by</a:t>
            </a:r>
            <a:r>
              <a:rPr dirty="0" sz="1800" spc="-15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checking</a:t>
            </a:r>
            <a:r>
              <a:rPr dirty="0" sz="1800" spc="-15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system safety</a:t>
            </a:r>
            <a:r>
              <a:rPr dirty="0" sz="1800" spc="-15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BEE9E2"/>
                </a:solidFill>
                <a:latin typeface="Times New Roman"/>
                <a:cs typeface="Times New Roman"/>
              </a:rPr>
              <a:t>before</a:t>
            </a:r>
            <a:r>
              <a:rPr dirty="0" sz="1800" spc="-70">
                <a:solidFill>
                  <a:srgbClr val="BEE9E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BEE9E2"/>
                </a:solidFill>
                <a:latin typeface="Times New Roman"/>
                <a:cs typeface="Times New Roman"/>
              </a:rPr>
              <a:t>every grant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solidFill>
                  <a:srgbClr val="FFFFFF"/>
                </a:solidFill>
                <a:latin typeface="Times New Roman"/>
                <a:cs typeface="Times New Roman"/>
              </a:rPr>
              <a:t>Team</a:t>
            </a:r>
            <a:r>
              <a:rPr dirty="0" sz="155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FFFFFF"/>
                </a:solidFill>
                <a:latin typeface="Times New Roman"/>
                <a:cs typeface="Times New Roman"/>
              </a:rPr>
              <a:t>No:</a:t>
            </a:r>
            <a:r>
              <a:rPr dirty="0" sz="155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25" b="1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550">
              <a:latin typeface="Times New Roman"/>
              <a:cs typeface="Times New Roman"/>
            </a:endParaRPr>
          </a:p>
          <a:p>
            <a:pPr algn="r" marR="4492625">
              <a:lnSpc>
                <a:spcPct val="100000"/>
              </a:lnSpc>
            </a:pP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Members:</a:t>
            </a:r>
            <a:r>
              <a:rPr dirty="0" sz="155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G.</a:t>
            </a:r>
            <a:r>
              <a:rPr dirty="0" sz="155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Neha</a:t>
            </a:r>
            <a:r>
              <a:rPr dirty="0" sz="155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Reddy</a:t>
            </a:r>
            <a:r>
              <a:rPr dirty="0" sz="155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dirty="0" sz="155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Times New Roman"/>
                <a:cs typeface="Times New Roman"/>
              </a:rPr>
              <a:t>2520030409</a:t>
            </a:r>
            <a:endParaRPr sz="1550">
              <a:latin typeface="Times New Roman"/>
              <a:cs typeface="Times New Roman"/>
            </a:endParaRPr>
          </a:p>
          <a:p>
            <a:pPr algn="r" marR="4432300">
              <a:lnSpc>
                <a:spcPct val="100000"/>
              </a:lnSpc>
              <a:spcBef>
                <a:spcPts val="20"/>
              </a:spcBef>
            </a:pP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Ch.</a:t>
            </a:r>
            <a:r>
              <a:rPr dirty="0" sz="1550" spc="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Kavya</a:t>
            </a:r>
            <a:r>
              <a:rPr dirty="0" sz="1550" spc="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Sree</a:t>
            </a:r>
            <a:r>
              <a:rPr dirty="0" sz="155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dirty="0" sz="155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Times New Roman"/>
                <a:cs typeface="Times New Roman"/>
              </a:rPr>
              <a:t>2520030413</a:t>
            </a:r>
            <a:endParaRPr sz="1550">
              <a:latin typeface="Times New Roman"/>
              <a:cs typeface="Times New Roman"/>
            </a:endParaRPr>
          </a:p>
          <a:p>
            <a:pPr marL="975360">
              <a:lnSpc>
                <a:spcPct val="100000"/>
              </a:lnSpc>
              <a:spcBef>
                <a:spcPts val="90"/>
              </a:spcBef>
            </a:pPr>
            <a:r>
              <a:rPr dirty="0" sz="1550" spc="-80">
                <a:solidFill>
                  <a:srgbClr val="FFFFFF"/>
                </a:solidFill>
                <a:latin typeface="Times New Roman"/>
                <a:cs typeface="Times New Roman"/>
              </a:rPr>
              <a:t>V.</a:t>
            </a:r>
            <a:r>
              <a:rPr dirty="0" sz="155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Akshara</a:t>
            </a:r>
            <a:r>
              <a:rPr dirty="0" sz="1550" spc="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1550" spc="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Times New Roman"/>
                <a:cs typeface="Times New Roman"/>
              </a:rPr>
              <a:t>2520030269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dirty="0" spc="50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143000"/>
            <a:ext cx="82296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13B8A6"/>
            </a:solidFill>
          </a:ln>
        </p:spPr>
        <p:txBody>
          <a:bodyPr wrap="square" lIns="0" tIns="135255" rIns="0" bIns="0" rtlCol="0" vert="horz">
            <a:spAutoFit/>
          </a:bodyPr>
          <a:lstStyle/>
          <a:p>
            <a:pPr marL="183515" marR="686435">
              <a:lnSpc>
                <a:spcPts val="2030"/>
              </a:lnSpc>
              <a:spcBef>
                <a:spcPts val="1065"/>
              </a:spcBef>
            </a:pP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"Build</a:t>
            </a:r>
            <a:r>
              <a:rPr dirty="0" sz="1700" spc="-60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a</a:t>
            </a:r>
            <a:r>
              <a:rPr dirty="0" sz="1700" spc="-45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20" i="1">
                <a:solidFill>
                  <a:srgbClr val="1E2A49"/>
                </a:solidFill>
                <a:latin typeface="Times New Roman"/>
                <a:cs typeface="Times New Roman"/>
              </a:rPr>
              <a:t>resource</a:t>
            </a:r>
            <a:r>
              <a:rPr dirty="0" sz="1700" spc="-90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manager</a:t>
            </a:r>
            <a:r>
              <a:rPr dirty="0" sz="1700" spc="-5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that</a:t>
            </a:r>
            <a:r>
              <a:rPr dirty="0" sz="1700" spc="-35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checks</a:t>
            </a:r>
            <a:r>
              <a:rPr dirty="0" sz="1700" spc="-80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i="1">
                <a:solidFill>
                  <a:srgbClr val="1E2A49"/>
                </a:solidFill>
                <a:latin typeface="Times New Roman"/>
                <a:cs typeface="Times New Roman"/>
              </a:rPr>
              <a:t>resource</a:t>
            </a:r>
            <a:r>
              <a:rPr dirty="0" sz="1700" spc="-20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i="1">
                <a:solidFill>
                  <a:srgbClr val="1E2A49"/>
                </a:solidFill>
                <a:latin typeface="Times New Roman"/>
                <a:cs typeface="Times New Roman"/>
              </a:rPr>
              <a:t>requests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and</a:t>
            </a:r>
            <a:r>
              <a:rPr dirty="0" sz="1700" spc="-45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determines</a:t>
            </a:r>
            <a:r>
              <a:rPr dirty="0" sz="1700" spc="-5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whether</a:t>
            </a:r>
            <a:r>
              <a:rPr dirty="0" sz="1700" spc="-80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25" i="1">
                <a:solidFill>
                  <a:srgbClr val="1E2A49"/>
                </a:solidFill>
                <a:latin typeface="Times New Roman"/>
                <a:cs typeface="Times New Roman"/>
              </a:rPr>
              <a:t>the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system</a:t>
            </a:r>
            <a:r>
              <a:rPr dirty="0" sz="1700" spc="-50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remains in</a:t>
            </a:r>
            <a:r>
              <a:rPr dirty="0" sz="1700" spc="-45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a</a:t>
            </a:r>
            <a:r>
              <a:rPr dirty="0" sz="1700" spc="-45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1E2A49"/>
                </a:solidFill>
                <a:latin typeface="Times New Roman"/>
                <a:cs typeface="Times New Roman"/>
              </a:rPr>
              <a:t>safe</a:t>
            </a:r>
            <a:r>
              <a:rPr dirty="0" sz="1700" spc="-90" i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i="1">
                <a:solidFill>
                  <a:srgbClr val="1E2A49"/>
                </a:solidFill>
                <a:latin typeface="Times New Roman"/>
                <a:cs typeface="Times New Roman"/>
              </a:rPr>
              <a:t>state."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5612" y="2103501"/>
            <a:ext cx="4032250" cy="1203325"/>
            <a:chOff x="455612" y="2103501"/>
            <a:chExt cx="4032250" cy="1203325"/>
          </a:xfrm>
        </p:grpSpPr>
        <p:sp>
          <p:nvSpPr>
            <p:cNvPr id="5" name="object 5"/>
            <p:cNvSpPr/>
            <p:nvPr/>
          </p:nvSpPr>
          <p:spPr>
            <a:xfrm>
              <a:off x="533400" y="2109851"/>
              <a:ext cx="3948429" cy="1190625"/>
            </a:xfrm>
            <a:custGeom>
              <a:avLst/>
              <a:gdLst/>
              <a:ahLst/>
              <a:cxnLst/>
              <a:rect l="l" t="t" r="r" b="b"/>
              <a:pathLst>
                <a:path w="3948429" h="1190625">
                  <a:moveTo>
                    <a:pt x="0" y="1190625"/>
                  </a:moveTo>
                  <a:lnTo>
                    <a:pt x="3948112" y="1190625"/>
                  </a:lnTo>
                  <a:lnTo>
                    <a:pt x="3948112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1962" y="2109851"/>
              <a:ext cx="4019550" cy="1190625"/>
            </a:xfrm>
            <a:custGeom>
              <a:avLst/>
              <a:gdLst/>
              <a:ahLst/>
              <a:cxnLst/>
              <a:rect l="l" t="t" r="r" b="b"/>
              <a:pathLst>
                <a:path w="4019550" h="1190625">
                  <a:moveTo>
                    <a:pt x="0" y="1190625"/>
                  </a:moveTo>
                  <a:lnTo>
                    <a:pt x="4019550" y="1190625"/>
                  </a:lnTo>
                  <a:lnTo>
                    <a:pt x="40195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7200" y="2105025"/>
              <a:ext cx="76200" cy="1190625"/>
            </a:xfrm>
            <a:custGeom>
              <a:avLst/>
              <a:gdLst/>
              <a:ahLst/>
              <a:cxnLst/>
              <a:rect l="l" t="t" r="r" b="b"/>
              <a:pathLst>
                <a:path w="76200" h="1190625">
                  <a:moveTo>
                    <a:pt x="76200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76200" y="1190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3400" y="2087445"/>
            <a:ext cx="3942079" cy="100012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350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Limited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Resources</a:t>
            </a:r>
            <a:endParaRPr sz="1700">
              <a:latin typeface="Times New Roman"/>
              <a:cs typeface="Times New Roman"/>
            </a:endParaRPr>
          </a:p>
          <a:p>
            <a:pPr marL="152400" marR="122555">
              <a:lnSpc>
                <a:spcPts val="1650"/>
              </a:lnSpc>
              <a:spcBef>
                <a:spcPts val="1125"/>
              </a:spcBef>
            </a:pP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Processes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share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fixed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pool</a:t>
            </a:r>
            <a:r>
              <a:rPr dirty="0" sz="14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of</a:t>
            </a:r>
            <a:r>
              <a:rPr dirty="0" sz="14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memory,</a:t>
            </a:r>
            <a:r>
              <a:rPr dirty="0" sz="1400" spc="-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CPU,</a:t>
            </a:r>
            <a:r>
              <a:rPr dirty="0" sz="1400" spc="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files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400" spc="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devices.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65726" y="2103501"/>
            <a:ext cx="4032250" cy="1203325"/>
            <a:chOff x="4665726" y="2103501"/>
            <a:chExt cx="4032250" cy="1203325"/>
          </a:xfrm>
        </p:grpSpPr>
        <p:sp>
          <p:nvSpPr>
            <p:cNvPr id="10" name="object 10"/>
            <p:cNvSpPr/>
            <p:nvPr/>
          </p:nvSpPr>
          <p:spPr>
            <a:xfrm>
              <a:off x="4733925" y="2109851"/>
              <a:ext cx="3957954" cy="1190625"/>
            </a:xfrm>
            <a:custGeom>
              <a:avLst/>
              <a:gdLst/>
              <a:ahLst/>
              <a:cxnLst/>
              <a:rect l="l" t="t" r="r" b="b"/>
              <a:pathLst>
                <a:path w="3957954" h="1190625">
                  <a:moveTo>
                    <a:pt x="0" y="1190625"/>
                  </a:moveTo>
                  <a:lnTo>
                    <a:pt x="3957701" y="1190625"/>
                  </a:lnTo>
                  <a:lnTo>
                    <a:pt x="3957701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672076" y="2109851"/>
              <a:ext cx="4019550" cy="1190625"/>
            </a:xfrm>
            <a:custGeom>
              <a:avLst/>
              <a:gdLst/>
              <a:ahLst/>
              <a:cxnLst/>
              <a:rect l="l" t="t" r="r" b="b"/>
              <a:pathLst>
                <a:path w="4019550" h="1190625">
                  <a:moveTo>
                    <a:pt x="0" y="1190625"/>
                  </a:moveTo>
                  <a:lnTo>
                    <a:pt x="4019550" y="1190625"/>
                  </a:lnTo>
                  <a:lnTo>
                    <a:pt x="40195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67250" y="2105025"/>
              <a:ext cx="66675" cy="1190625"/>
            </a:xfrm>
            <a:custGeom>
              <a:avLst/>
              <a:gdLst/>
              <a:ahLst/>
              <a:cxnLst/>
              <a:rect l="l" t="t" r="r" b="b"/>
              <a:pathLst>
                <a:path w="66675" h="1190625">
                  <a:moveTo>
                    <a:pt x="66675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66675" y="11906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733925" y="2087445"/>
            <a:ext cx="3951604" cy="100012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1350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Risk</a:t>
            </a:r>
            <a:r>
              <a:rPr dirty="0" sz="1700" spc="-4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of</a:t>
            </a:r>
            <a:r>
              <a:rPr dirty="0" sz="1700" spc="-3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Deadlock</a:t>
            </a:r>
            <a:endParaRPr sz="1700">
              <a:latin typeface="Times New Roman"/>
              <a:cs typeface="Times New Roman"/>
            </a:endParaRPr>
          </a:p>
          <a:p>
            <a:pPr marL="163195" marR="406400">
              <a:lnSpc>
                <a:spcPts val="1650"/>
              </a:lnSpc>
              <a:spcBef>
                <a:spcPts val="1125"/>
              </a:spcBef>
            </a:pP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Careless</a:t>
            </a:r>
            <a:r>
              <a:rPr dirty="0" sz="1400" spc="-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allocation</a:t>
            </a:r>
            <a:r>
              <a:rPr dirty="0" sz="1400" spc="-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can</a:t>
            </a:r>
            <a:r>
              <a:rPr dirty="0" sz="1400" spc="-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make</a:t>
            </a:r>
            <a:r>
              <a:rPr dirty="0" sz="14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processes</a:t>
            </a:r>
            <a:r>
              <a:rPr dirty="0" sz="14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wait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on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each</a:t>
            </a:r>
            <a:r>
              <a:rPr dirty="0" sz="1400" spc="-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other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forever,</a:t>
            </a:r>
            <a:r>
              <a:rPr dirty="0" sz="1400" spc="-5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freezing</a:t>
            </a:r>
            <a:r>
              <a:rPr dirty="0" sz="1400" spc="-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the</a:t>
            </a:r>
            <a:r>
              <a:rPr dirty="0" sz="14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whole</a:t>
            </a:r>
            <a:r>
              <a:rPr dirty="0" sz="14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system.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5612" y="3475037"/>
            <a:ext cx="4032250" cy="1203325"/>
            <a:chOff x="455612" y="3475037"/>
            <a:chExt cx="4032250" cy="1203325"/>
          </a:xfrm>
        </p:grpSpPr>
        <p:sp>
          <p:nvSpPr>
            <p:cNvPr id="15" name="object 15"/>
            <p:cNvSpPr/>
            <p:nvPr/>
          </p:nvSpPr>
          <p:spPr>
            <a:xfrm>
              <a:off x="533400" y="3481387"/>
              <a:ext cx="3948429" cy="1190625"/>
            </a:xfrm>
            <a:custGeom>
              <a:avLst/>
              <a:gdLst/>
              <a:ahLst/>
              <a:cxnLst/>
              <a:rect l="l" t="t" r="r" b="b"/>
              <a:pathLst>
                <a:path w="3948429" h="1190625">
                  <a:moveTo>
                    <a:pt x="0" y="1190625"/>
                  </a:moveTo>
                  <a:lnTo>
                    <a:pt x="3948112" y="1190625"/>
                  </a:lnTo>
                  <a:lnTo>
                    <a:pt x="3948112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1962" y="3481387"/>
              <a:ext cx="4019550" cy="1190625"/>
            </a:xfrm>
            <a:custGeom>
              <a:avLst/>
              <a:gdLst/>
              <a:ahLst/>
              <a:cxnLst/>
              <a:rect l="l" t="t" r="r" b="b"/>
              <a:pathLst>
                <a:path w="4019550" h="1190625">
                  <a:moveTo>
                    <a:pt x="0" y="1190625"/>
                  </a:moveTo>
                  <a:lnTo>
                    <a:pt x="4019550" y="1190625"/>
                  </a:lnTo>
                  <a:lnTo>
                    <a:pt x="40195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7200" y="3476625"/>
              <a:ext cx="76200" cy="1190625"/>
            </a:xfrm>
            <a:custGeom>
              <a:avLst/>
              <a:gdLst/>
              <a:ahLst/>
              <a:cxnLst/>
              <a:rect l="l" t="t" r="r" b="b"/>
              <a:pathLst>
                <a:path w="76200" h="1190625">
                  <a:moveTo>
                    <a:pt x="76200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76200" y="1190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33400" y="3461662"/>
            <a:ext cx="3942079" cy="100012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350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Unsafe</a:t>
            </a:r>
            <a:r>
              <a:rPr dirty="0" sz="1700" spc="-6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States</a:t>
            </a:r>
            <a:endParaRPr sz="1700">
              <a:latin typeface="Times New Roman"/>
              <a:cs typeface="Times New Roman"/>
            </a:endParaRPr>
          </a:p>
          <a:p>
            <a:pPr marL="152400" marR="321945">
              <a:lnSpc>
                <a:spcPts val="1650"/>
              </a:lnSpc>
              <a:spcBef>
                <a:spcPts val="1125"/>
              </a:spcBef>
            </a:pP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</a:t>
            </a:r>
            <a:r>
              <a:rPr dirty="0" sz="1400" spc="-10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system</a:t>
            </a:r>
            <a:r>
              <a:rPr dirty="0" sz="14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can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look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fine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now</a:t>
            </a:r>
            <a:r>
              <a:rPr dirty="0" sz="1400" spc="-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yet have</a:t>
            </a:r>
            <a:r>
              <a:rPr dirty="0" sz="14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no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order</a:t>
            </a:r>
            <a:r>
              <a:rPr dirty="0" sz="1400" spc="-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in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which</a:t>
            </a:r>
            <a:r>
              <a:rPr dirty="0" sz="14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all</a:t>
            </a:r>
            <a:r>
              <a:rPr dirty="0" sz="14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processes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can</a:t>
            </a:r>
            <a:r>
              <a:rPr dirty="0" sz="14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finish.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65726" y="3475037"/>
            <a:ext cx="4032250" cy="1203325"/>
            <a:chOff x="4665726" y="3475037"/>
            <a:chExt cx="4032250" cy="1203325"/>
          </a:xfrm>
        </p:grpSpPr>
        <p:sp>
          <p:nvSpPr>
            <p:cNvPr id="20" name="object 20"/>
            <p:cNvSpPr/>
            <p:nvPr/>
          </p:nvSpPr>
          <p:spPr>
            <a:xfrm>
              <a:off x="4733925" y="3481387"/>
              <a:ext cx="3957954" cy="1190625"/>
            </a:xfrm>
            <a:custGeom>
              <a:avLst/>
              <a:gdLst/>
              <a:ahLst/>
              <a:cxnLst/>
              <a:rect l="l" t="t" r="r" b="b"/>
              <a:pathLst>
                <a:path w="3957954" h="1190625">
                  <a:moveTo>
                    <a:pt x="0" y="1190625"/>
                  </a:moveTo>
                  <a:lnTo>
                    <a:pt x="3957701" y="1190625"/>
                  </a:lnTo>
                  <a:lnTo>
                    <a:pt x="3957701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672076" y="3481387"/>
              <a:ext cx="4019550" cy="1190625"/>
            </a:xfrm>
            <a:custGeom>
              <a:avLst/>
              <a:gdLst/>
              <a:ahLst/>
              <a:cxnLst/>
              <a:rect l="l" t="t" r="r" b="b"/>
              <a:pathLst>
                <a:path w="4019550" h="1190625">
                  <a:moveTo>
                    <a:pt x="0" y="1190625"/>
                  </a:moveTo>
                  <a:lnTo>
                    <a:pt x="4019550" y="1190625"/>
                  </a:lnTo>
                  <a:lnTo>
                    <a:pt x="40195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67250" y="3476625"/>
              <a:ext cx="66675" cy="1190625"/>
            </a:xfrm>
            <a:custGeom>
              <a:avLst/>
              <a:gdLst/>
              <a:ahLst/>
              <a:cxnLst/>
              <a:rect l="l" t="t" r="r" b="b"/>
              <a:pathLst>
                <a:path w="66675" h="1190625">
                  <a:moveTo>
                    <a:pt x="66675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66675" y="11906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733925" y="3461662"/>
            <a:ext cx="3951604" cy="100012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1350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Need</a:t>
            </a:r>
            <a:r>
              <a:rPr dirty="0" sz="1700" spc="1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for</a:t>
            </a:r>
            <a:r>
              <a:rPr dirty="0" sz="1700" spc="-8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Prevention</a:t>
            </a:r>
            <a:endParaRPr sz="1700">
              <a:latin typeface="Times New Roman"/>
              <a:cs typeface="Times New Roman"/>
            </a:endParaRPr>
          </a:p>
          <a:p>
            <a:pPr marL="163195" marR="408305">
              <a:lnSpc>
                <a:spcPts val="1650"/>
              </a:lnSpc>
              <a:spcBef>
                <a:spcPts val="1125"/>
              </a:spcBef>
            </a:pP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Avoiding</a:t>
            </a:r>
            <a:r>
              <a:rPr dirty="0" sz="1400" spc="-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deadlock</a:t>
            </a:r>
            <a:r>
              <a:rPr dirty="0" sz="14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before</a:t>
            </a:r>
            <a:r>
              <a:rPr dirty="0" sz="1400" spc="-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it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happens</a:t>
            </a:r>
            <a:r>
              <a:rPr dirty="0" sz="1400" spc="-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is</a:t>
            </a:r>
            <a:r>
              <a:rPr dirty="0" sz="14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cheaper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4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safer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than</a:t>
            </a:r>
            <a:r>
              <a:rPr dirty="0" sz="1400" spc="-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detecting</a:t>
            </a:r>
            <a:r>
              <a:rPr dirty="0" sz="14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4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recovering</a:t>
            </a:r>
            <a:r>
              <a:rPr dirty="0" sz="1400" spc="-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later.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1962" y="1147825"/>
            <a:ext cx="8229600" cy="609600"/>
            <a:chOff x="461962" y="1147825"/>
            <a:chExt cx="8229600" cy="609600"/>
          </a:xfrm>
        </p:grpSpPr>
        <p:sp>
          <p:nvSpPr>
            <p:cNvPr id="4" name="object 4"/>
            <p:cNvSpPr/>
            <p:nvPr/>
          </p:nvSpPr>
          <p:spPr>
            <a:xfrm>
              <a:off x="461962" y="1147825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822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8229600" y="6096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90550" y="1238249"/>
              <a:ext cx="438150" cy="428625"/>
            </a:xfrm>
            <a:custGeom>
              <a:avLst/>
              <a:gdLst/>
              <a:ahLst/>
              <a:cxnLst/>
              <a:rect l="l" t="t" r="r" b="b"/>
              <a:pathLst>
                <a:path w="438150" h="428625">
                  <a:moveTo>
                    <a:pt x="219075" y="0"/>
                  </a:moveTo>
                  <a:lnTo>
                    <a:pt x="168842" y="5663"/>
                  </a:lnTo>
                  <a:lnTo>
                    <a:pt x="122730" y="21792"/>
                  </a:lnTo>
                  <a:lnTo>
                    <a:pt x="82054" y="47096"/>
                  </a:lnTo>
                  <a:lnTo>
                    <a:pt x="48127" y="80284"/>
                  </a:lnTo>
                  <a:lnTo>
                    <a:pt x="22266" y="120066"/>
                  </a:lnTo>
                  <a:lnTo>
                    <a:pt x="5785" y="165151"/>
                  </a:lnTo>
                  <a:lnTo>
                    <a:pt x="0" y="214249"/>
                  </a:lnTo>
                  <a:lnTo>
                    <a:pt x="5785" y="263393"/>
                  </a:lnTo>
                  <a:lnTo>
                    <a:pt x="22266" y="308511"/>
                  </a:lnTo>
                  <a:lnTo>
                    <a:pt x="48127" y="348316"/>
                  </a:lnTo>
                  <a:lnTo>
                    <a:pt x="82054" y="381518"/>
                  </a:lnTo>
                  <a:lnTo>
                    <a:pt x="122730" y="406829"/>
                  </a:lnTo>
                  <a:lnTo>
                    <a:pt x="168842" y="422961"/>
                  </a:lnTo>
                  <a:lnTo>
                    <a:pt x="219075" y="428625"/>
                  </a:lnTo>
                  <a:lnTo>
                    <a:pt x="269307" y="422961"/>
                  </a:lnTo>
                  <a:lnTo>
                    <a:pt x="315419" y="406829"/>
                  </a:lnTo>
                  <a:lnTo>
                    <a:pt x="356095" y="381518"/>
                  </a:lnTo>
                  <a:lnTo>
                    <a:pt x="390022" y="348316"/>
                  </a:lnTo>
                  <a:lnTo>
                    <a:pt x="415883" y="308511"/>
                  </a:lnTo>
                  <a:lnTo>
                    <a:pt x="432364" y="263393"/>
                  </a:lnTo>
                  <a:lnTo>
                    <a:pt x="438150" y="214249"/>
                  </a:lnTo>
                  <a:lnTo>
                    <a:pt x="432364" y="165151"/>
                  </a:lnTo>
                  <a:lnTo>
                    <a:pt x="415883" y="120066"/>
                  </a:lnTo>
                  <a:lnTo>
                    <a:pt x="390022" y="80284"/>
                  </a:lnTo>
                  <a:lnTo>
                    <a:pt x="356095" y="47096"/>
                  </a:lnTo>
                  <a:lnTo>
                    <a:pt x="315419" y="21792"/>
                  </a:lnTo>
                  <a:lnTo>
                    <a:pt x="269307" y="5663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61962" y="1147825"/>
            <a:ext cx="8229600" cy="609600"/>
          </a:xfrm>
          <a:prstGeom prst="rect">
            <a:avLst/>
          </a:prstGeom>
          <a:ln w="12700">
            <a:solidFill>
              <a:srgbClr val="DDE2EA"/>
            </a:solidFill>
          </a:ln>
        </p:spPr>
        <p:txBody>
          <a:bodyPr wrap="square" lIns="0" tIns="142240" rIns="0" bIns="0" rtlCol="0" vert="horz">
            <a:spAutoFit/>
          </a:bodyPr>
          <a:lstStyle/>
          <a:p>
            <a:pPr marL="290830">
              <a:lnSpc>
                <a:spcPct val="100000"/>
              </a:lnSpc>
              <a:spcBef>
                <a:spcPts val="1120"/>
              </a:spcBef>
              <a:tabLst>
                <a:tab pos="727710" algn="l"/>
              </a:tabLst>
            </a:pPr>
            <a:r>
              <a:rPr dirty="0" baseline="-3086" sz="2700" spc="-7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baseline="-3086" sz="27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Compute</a:t>
            </a:r>
            <a:r>
              <a:rPr dirty="0" sz="1500" spc="-2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Need</a:t>
            </a:r>
            <a:r>
              <a:rPr dirty="0" sz="1500" spc="-3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Matrix:</a:t>
            </a:r>
            <a:r>
              <a:rPr dirty="0" sz="1500" spc="38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Calculate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remaining</a:t>
            </a:r>
            <a:r>
              <a:rPr dirty="0" sz="15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requirement</a:t>
            </a:r>
            <a:r>
              <a:rPr dirty="0" sz="1500" spc="-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of</a:t>
            </a:r>
            <a:r>
              <a:rPr dirty="0" sz="1500" spc="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every</a:t>
            </a:r>
            <a:r>
              <a:rPr dirty="0" sz="15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process</a:t>
            </a:r>
            <a:r>
              <a:rPr dirty="0" sz="1500" spc="-7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as Max</a:t>
            </a:r>
            <a:r>
              <a:rPr dirty="0" sz="1500" spc="-9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-</a:t>
            </a:r>
            <a:r>
              <a:rPr dirty="0" sz="1500" spc="-9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Allocation.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1962" y="1852676"/>
            <a:ext cx="8229600" cy="609600"/>
            <a:chOff x="461962" y="1852676"/>
            <a:chExt cx="8229600" cy="609600"/>
          </a:xfrm>
        </p:grpSpPr>
        <p:sp>
          <p:nvSpPr>
            <p:cNvPr id="8" name="object 8"/>
            <p:cNvSpPr/>
            <p:nvPr/>
          </p:nvSpPr>
          <p:spPr>
            <a:xfrm>
              <a:off x="461962" y="1852676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822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8229600" y="6096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90550" y="1943100"/>
              <a:ext cx="438150" cy="428625"/>
            </a:xfrm>
            <a:custGeom>
              <a:avLst/>
              <a:gdLst/>
              <a:ahLst/>
              <a:cxnLst/>
              <a:rect l="l" t="t" r="r" b="b"/>
              <a:pathLst>
                <a:path w="438150" h="428625">
                  <a:moveTo>
                    <a:pt x="219075" y="0"/>
                  </a:moveTo>
                  <a:lnTo>
                    <a:pt x="168842" y="5663"/>
                  </a:lnTo>
                  <a:lnTo>
                    <a:pt x="122730" y="21792"/>
                  </a:lnTo>
                  <a:lnTo>
                    <a:pt x="82054" y="47096"/>
                  </a:lnTo>
                  <a:lnTo>
                    <a:pt x="48127" y="80284"/>
                  </a:lnTo>
                  <a:lnTo>
                    <a:pt x="22266" y="120066"/>
                  </a:lnTo>
                  <a:lnTo>
                    <a:pt x="5785" y="165151"/>
                  </a:lnTo>
                  <a:lnTo>
                    <a:pt x="0" y="214249"/>
                  </a:lnTo>
                  <a:lnTo>
                    <a:pt x="5785" y="263393"/>
                  </a:lnTo>
                  <a:lnTo>
                    <a:pt x="22266" y="308511"/>
                  </a:lnTo>
                  <a:lnTo>
                    <a:pt x="48127" y="348316"/>
                  </a:lnTo>
                  <a:lnTo>
                    <a:pt x="82054" y="381518"/>
                  </a:lnTo>
                  <a:lnTo>
                    <a:pt x="122730" y="406829"/>
                  </a:lnTo>
                  <a:lnTo>
                    <a:pt x="168842" y="422961"/>
                  </a:lnTo>
                  <a:lnTo>
                    <a:pt x="219075" y="428625"/>
                  </a:lnTo>
                  <a:lnTo>
                    <a:pt x="269307" y="422961"/>
                  </a:lnTo>
                  <a:lnTo>
                    <a:pt x="315419" y="406829"/>
                  </a:lnTo>
                  <a:lnTo>
                    <a:pt x="356095" y="381518"/>
                  </a:lnTo>
                  <a:lnTo>
                    <a:pt x="390022" y="348316"/>
                  </a:lnTo>
                  <a:lnTo>
                    <a:pt x="415883" y="308511"/>
                  </a:lnTo>
                  <a:lnTo>
                    <a:pt x="432364" y="263393"/>
                  </a:lnTo>
                  <a:lnTo>
                    <a:pt x="438150" y="214249"/>
                  </a:lnTo>
                  <a:lnTo>
                    <a:pt x="432364" y="165151"/>
                  </a:lnTo>
                  <a:lnTo>
                    <a:pt x="415883" y="120066"/>
                  </a:lnTo>
                  <a:lnTo>
                    <a:pt x="390022" y="80284"/>
                  </a:lnTo>
                  <a:lnTo>
                    <a:pt x="356095" y="47096"/>
                  </a:lnTo>
                  <a:lnTo>
                    <a:pt x="315419" y="21792"/>
                  </a:lnTo>
                  <a:lnTo>
                    <a:pt x="269307" y="5663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61962" y="1852676"/>
            <a:ext cx="8229600" cy="609600"/>
          </a:xfrm>
          <a:prstGeom prst="rect">
            <a:avLst/>
          </a:prstGeom>
          <a:ln w="12700">
            <a:solidFill>
              <a:srgbClr val="DDE2EA"/>
            </a:solidFill>
          </a:ln>
        </p:spPr>
        <p:txBody>
          <a:bodyPr wrap="square" lIns="0" tIns="142240" rIns="0" bIns="0" rtlCol="0" vert="horz">
            <a:spAutoFit/>
          </a:bodyPr>
          <a:lstStyle/>
          <a:p>
            <a:pPr marL="290830">
              <a:lnSpc>
                <a:spcPct val="100000"/>
              </a:lnSpc>
              <a:spcBef>
                <a:spcPts val="1120"/>
              </a:spcBef>
              <a:tabLst>
                <a:tab pos="727710" algn="l"/>
              </a:tabLst>
            </a:pPr>
            <a:r>
              <a:rPr dirty="0" baseline="-3086" sz="2700" spc="-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-3086" sz="27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Check</a:t>
            </a:r>
            <a:r>
              <a:rPr dirty="0" sz="1500" spc="2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System</a:t>
            </a:r>
            <a:r>
              <a:rPr dirty="0" sz="1500" spc="-1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Safety:</a:t>
            </a:r>
            <a:r>
              <a:rPr dirty="0" sz="1500" spc="33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Decide</a:t>
            </a:r>
            <a:r>
              <a:rPr dirty="0" sz="15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whether</a:t>
            </a:r>
            <a:r>
              <a:rPr dirty="0" sz="1500" spc="-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safe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sequence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exists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in</a:t>
            </a:r>
            <a:r>
              <a:rPr dirty="0" sz="15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which</a:t>
            </a:r>
            <a:r>
              <a:rPr dirty="0" sz="15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all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processes</a:t>
            </a:r>
            <a:r>
              <a:rPr dirty="0" sz="1500" spc="-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can</a:t>
            </a:r>
            <a:r>
              <a:rPr dirty="0" sz="15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finish.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5612" y="2551176"/>
            <a:ext cx="8242300" cy="622300"/>
            <a:chOff x="455612" y="2551176"/>
            <a:chExt cx="8242300" cy="622300"/>
          </a:xfrm>
        </p:grpSpPr>
        <p:sp>
          <p:nvSpPr>
            <p:cNvPr id="12" name="object 12"/>
            <p:cNvSpPr/>
            <p:nvPr/>
          </p:nvSpPr>
          <p:spPr>
            <a:xfrm>
              <a:off x="461962" y="2557526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822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8229600" y="6096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61962" y="2557526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0" y="609600"/>
                  </a:moveTo>
                  <a:lnTo>
                    <a:pt x="8229600" y="6096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90550" y="2638425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219075" y="0"/>
                  </a:moveTo>
                  <a:lnTo>
                    <a:pt x="168842" y="5783"/>
                  </a:lnTo>
                  <a:lnTo>
                    <a:pt x="122730" y="22260"/>
                  </a:lnTo>
                  <a:lnTo>
                    <a:pt x="82054" y="48115"/>
                  </a:lnTo>
                  <a:lnTo>
                    <a:pt x="48127" y="82038"/>
                  </a:lnTo>
                  <a:lnTo>
                    <a:pt x="22266" y="122714"/>
                  </a:lnTo>
                  <a:lnTo>
                    <a:pt x="5785" y="168830"/>
                  </a:lnTo>
                  <a:lnTo>
                    <a:pt x="0" y="219075"/>
                  </a:lnTo>
                  <a:lnTo>
                    <a:pt x="5785" y="269319"/>
                  </a:lnTo>
                  <a:lnTo>
                    <a:pt x="22266" y="315435"/>
                  </a:lnTo>
                  <a:lnTo>
                    <a:pt x="48127" y="356111"/>
                  </a:lnTo>
                  <a:lnTo>
                    <a:pt x="82054" y="390034"/>
                  </a:lnTo>
                  <a:lnTo>
                    <a:pt x="122730" y="415889"/>
                  </a:lnTo>
                  <a:lnTo>
                    <a:pt x="168842" y="432366"/>
                  </a:lnTo>
                  <a:lnTo>
                    <a:pt x="219075" y="438150"/>
                  </a:lnTo>
                  <a:lnTo>
                    <a:pt x="269307" y="432366"/>
                  </a:lnTo>
                  <a:lnTo>
                    <a:pt x="315419" y="415889"/>
                  </a:lnTo>
                  <a:lnTo>
                    <a:pt x="356095" y="390034"/>
                  </a:lnTo>
                  <a:lnTo>
                    <a:pt x="390022" y="356111"/>
                  </a:lnTo>
                  <a:lnTo>
                    <a:pt x="415883" y="315435"/>
                  </a:lnTo>
                  <a:lnTo>
                    <a:pt x="432364" y="269319"/>
                  </a:lnTo>
                  <a:lnTo>
                    <a:pt x="438150" y="219075"/>
                  </a:lnTo>
                  <a:lnTo>
                    <a:pt x="432364" y="168830"/>
                  </a:lnTo>
                  <a:lnTo>
                    <a:pt x="415883" y="122714"/>
                  </a:lnTo>
                  <a:lnTo>
                    <a:pt x="390022" y="82038"/>
                  </a:lnTo>
                  <a:lnTo>
                    <a:pt x="356095" y="48115"/>
                  </a:lnTo>
                  <a:lnTo>
                    <a:pt x="315419" y="22260"/>
                  </a:lnTo>
                  <a:lnTo>
                    <a:pt x="269307" y="5783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52792" y="2702813"/>
            <a:ext cx="12763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800" spc="-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9989" y="2611119"/>
            <a:ext cx="7261225" cy="484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Handle</a:t>
            </a:r>
            <a:r>
              <a:rPr dirty="0" sz="1500" spc="-2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Resource</a:t>
            </a:r>
            <a:r>
              <a:rPr dirty="0" sz="1500" spc="-1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Requests:</a:t>
            </a:r>
            <a:r>
              <a:rPr dirty="0" sz="1500" spc="39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Grant a</a:t>
            </a:r>
            <a:r>
              <a:rPr dirty="0" sz="1500" spc="-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request</a:t>
            </a:r>
            <a:r>
              <a:rPr dirty="0" sz="1500" spc="-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only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if</a:t>
            </a:r>
            <a:r>
              <a:rPr dirty="0" sz="1500" spc="-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the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system stays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safe,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otherwise</a:t>
            </a:r>
            <a:r>
              <a:rPr dirty="0" sz="1500" spc="-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make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the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process</a:t>
            </a:r>
            <a:r>
              <a:rPr dirty="0" sz="1500" spc="-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wait.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962" y="3262376"/>
            <a:ext cx="8229600" cy="609600"/>
            <a:chOff x="461962" y="3262376"/>
            <a:chExt cx="8229600" cy="609600"/>
          </a:xfrm>
        </p:grpSpPr>
        <p:sp>
          <p:nvSpPr>
            <p:cNvPr id="18" name="object 18"/>
            <p:cNvSpPr/>
            <p:nvPr/>
          </p:nvSpPr>
          <p:spPr>
            <a:xfrm>
              <a:off x="461962" y="3262376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822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8229600" y="6096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90550" y="3343275"/>
              <a:ext cx="438150" cy="428625"/>
            </a:xfrm>
            <a:custGeom>
              <a:avLst/>
              <a:gdLst/>
              <a:ahLst/>
              <a:cxnLst/>
              <a:rect l="l" t="t" r="r" b="b"/>
              <a:pathLst>
                <a:path w="438150" h="428625">
                  <a:moveTo>
                    <a:pt x="219075" y="0"/>
                  </a:moveTo>
                  <a:lnTo>
                    <a:pt x="168842" y="5663"/>
                  </a:lnTo>
                  <a:lnTo>
                    <a:pt x="122730" y="21795"/>
                  </a:lnTo>
                  <a:lnTo>
                    <a:pt x="82054" y="47106"/>
                  </a:lnTo>
                  <a:lnTo>
                    <a:pt x="48127" y="80308"/>
                  </a:lnTo>
                  <a:lnTo>
                    <a:pt x="22266" y="120113"/>
                  </a:lnTo>
                  <a:lnTo>
                    <a:pt x="5785" y="165231"/>
                  </a:lnTo>
                  <a:lnTo>
                    <a:pt x="0" y="214375"/>
                  </a:lnTo>
                  <a:lnTo>
                    <a:pt x="5785" y="263473"/>
                  </a:lnTo>
                  <a:lnTo>
                    <a:pt x="22266" y="308558"/>
                  </a:lnTo>
                  <a:lnTo>
                    <a:pt x="48127" y="348340"/>
                  </a:lnTo>
                  <a:lnTo>
                    <a:pt x="82054" y="381528"/>
                  </a:lnTo>
                  <a:lnTo>
                    <a:pt x="122730" y="406832"/>
                  </a:lnTo>
                  <a:lnTo>
                    <a:pt x="168842" y="422961"/>
                  </a:lnTo>
                  <a:lnTo>
                    <a:pt x="219075" y="428625"/>
                  </a:lnTo>
                  <a:lnTo>
                    <a:pt x="269307" y="422961"/>
                  </a:lnTo>
                  <a:lnTo>
                    <a:pt x="315419" y="406832"/>
                  </a:lnTo>
                  <a:lnTo>
                    <a:pt x="356095" y="381528"/>
                  </a:lnTo>
                  <a:lnTo>
                    <a:pt x="390022" y="348340"/>
                  </a:lnTo>
                  <a:lnTo>
                    <a:pt x="415883" y="308558"/>
                  </a:lnTo>
                  <a:lnTo>
                    <a:pt x="432364" y="263473"/>
                  </a:lnTo>
                  <a:lnTo>
                    <a:pt x="438150" y="214375"/>
                  </a:lnTo>
                  <a:lnTo>
                    <a:pt x="432364" y="165231"/>
                  </a:lnTo>
                  <a:lnTo>
                    <a:pt x="415883" y="120113"/>
                  </a:lnTo>
                  <a:lnTo>
                    <a:pt x="390022" y="80308"/>
                  </a:lnTo>
                  <a:lnTo>
                    <a:pt x="356095" y="47106"/>
                  </a:lnTo>
                  <a:lnTo>
                    <a:pt x="315419" y="21795"/>
                  </a:lnTo>
                  <a:lnTo>
                    <a:pt x="269307" y="5663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61962" y="3262376"/>
            <a:ext cx="8229600" cy="609600"/>
          </a:xfrm>
          <a:prstGeom prst="rect">
            <a:avLst/>
          </a:prstGeom>
          <a:ln w="12700">
            <a:solidFill>
              <a:srgbClr val="DDE2EA"/>
            </a:solidFill>
          </a:ln>
        </p:spPr>
        <p:txBody>
          <a:bodyPr wrap="square" lIns="0" tIns="144145" rIns="0" bIns="0" rtlCol="0" vert="horz">
            <a:spAutoFit/>
          </a:bodyPr>
          <a:lstStyle/>
          <a:p>
            <a:pPr marL="290830">
              <a:lnSpc>
                <a:spcPct val="100000"/>
              </a:lnSpc>
              <a:spcBef>
                <a:spcPts val="1135"/>
              </a:spcBef>
              <a:tabLst>
                <a:tab pos="727710" algn="l"/>
              </a:tabLst>
            </a:pPr>
            <a:r>
              <a:rPr dirty="0" baseline="-3086" sz="2700" spc="-7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baseline="-3086" sz="27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500" spc="-20" b="1">
                <a:solidFill>
                  <a:srgbClr val="1E2A49"/>
                </a:solidFill>
                <a:latin typeface="Times New Roman"/>
                <a:cs typeface="Times New Roman"/>
              </a:rPr>
              <a:t>Validate</a:t>
            </a:r>
            <a:r>
              <a:rPr dirty="0" sz="1500" spc="-7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Inputs:</a:t>
            </a:r>
            <a:r>
              <a:rPr dirty="0" sz="1500" spc="39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Detect</a:t>
            </a:r>
            <a:r>
              <a:rPr dirty="0" sz="15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invalid</a:t>
            </a:r>
            <a:r>
              <a:rPr dirty="0" sz="1500" spc="-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data</a:t>
            </a:r>
            <a:r>
              <a:rPr dirty="0" sz="1500" spc="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such as</a:t>
            </a:r>
            <a:r>
              <a:rPr dirty="0" sz="1500" spc="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negative</a:t>
            </a:r>
            <a:r>
              <a:rPr dirty="0" sz="1500" spc="-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values</a:t>
            </a:r>
            <a:r>
              <a:rPr dirty="0" sz="1500" spc="-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or</a:t>
            </a:r>
            <a:r>
              <a:rPr dirty="0" sz="1500" spc="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allocation</a:t>
            </a:r>
            <a:r>
              <a:rPr dirty="0" sz="1500" spc="-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above</a:t>
            </a:r>
            <a:r>
              <a:rPr dirty="0" sz="1500" spc="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maximum.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1962" y="3967162"/>
            <a:ext cx="8229600" cy="609600"/>
            <a:chOff x="461962" y="3967162"/>
            <a:chExt cx="8229600" cy="609600"/>
          </a:xfrm>
        </p:grpSpPr>
        <p:sp>
          <p:nvSpPr>
            <p:cNvPr id="22" name="object 22"/>
            <p:cNvSpPr/>
            <p:nvPr/>
          </p:nvSpPr>
          <p:spPr>
            <a:xfrm>
              <a:off x="461962" y="3967162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822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8229600" y="6096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90550" y="4048125"/>
              <a:ext cx="438150" cy="428625"/>
            </a:xfrm>
            <a:custGeom>
              <a:avLst/>
              <a:gdLst/>
              <a:ahLst/>
              <a:cxnLst/>
              <a:rect l="l" t="t" r="r" b="b"/>
              <a:pathLst>
                <a:path w="438150" h="428625">
                  <a:moveTo>
                    <a:pt x="219075" y="0"/>
                  </a:moveTo>
                  <a:lnTo>
                    <a:pt x="168842" y="5660"/>
                  </a:lnTo>
                  <a:lnTo>
                    <a:pt x="122730" y="21782"/>
                  </a:lnTo>
                  <a:lnTo>
                    <a:pt x="82054" y="47081"/>
                  </a:lnTo>
                  <a:lnTo>
                    <a:pt x="48127" y="80269"/>
                  </a:lnTo>
                  <a:lnTo>
                    <a:pt x="22266" y="120062"/>
                  </a:lnTo>
                  <a:lnTo>
                    <a:pt x="5785" y="165171"/>
                  </a:lnTo>
                  <a:lnTo>
                    <a:pt x="0" y="214312"/>
                  </a:lnTo>
                  <a:lnTo>
                    <a:pt x="5785" y="263453"/>
                  </a:lnTo>
                  <a:lnTo>
                    <a:pt x="22266" y="308562"/>
                  </a:lnTo>
                  <a:lnTo>
                    <a:pt x="48127" y="348355"/>
                  </a:lnTo>
                  <a:lnTo>
                    <a:pt x="82054" y="381543"/>
                  </a:lnTo>
                  <a:lnTo>
                    <a:pt x="122730" y="406842"/>
                  </a:lnTo>
                  <a:lnTo>
                    <a:pt x="168842" y="422964"/>
                  </a:lnTo>
                  <a:lnTo>
                    <a:pt x="219075" y="428625"/>
                  </a:lnTo>
                  <a:lnTo>
                    <a:pt x="269307" y="422964"/>
                  </a:lnTo>
                  <a:lnTo>
                    <a:pt x="315419" y="406842"/>
                  </a:lnTo>
                  <a:lnTo>
                    <a:pt x="356095" y="381543"/>
                  </a:lnTo>
                  <a:lnTo>
                    <a:pt x="390022" y="348355"/>
                  </a:lnTo>
                  <a:lnTo>
                    <a:pt x="415883" y="308562"/>
                  </a:lnTo>
                  <a:lnTo>
                    <a:pt x="432364" y="263453"/>
                  </a:lnTo>
                  <a:lnTo>
                    <a:pt x="438150" y="214312"/>
                  </a:lnTo>
                  <a:lnTo>
                    <a:pt x="432364" y="165171"/>
                  </a:lnTo>
                  <a:lnTo>
                    <a:pt x="415883" y="120062"/>
                  </a:lnTo>
                  <a:lnTo>
                    <a:pt x="390022" y="80269"/>
                  </a:lnTo>
                  <a:lnTo>
                    <a:pt x="356095" y="47081"/>
                  </a:lnTo>
                  <a:lnTo>
                    <a:pt x="315419" y="21782"/>
                  </a:lnTo>
                  <a:lnTo>
                    <a:pt x="269307" y="5660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61962" y="3967162"/>
            <a:ext cx="8229600" cy="609600"/>
          </a:xfrm>
          <a:prstGeom prst="rect">
            <a:avLst/>
          </a:prstGeom>
          <a:ln w="12700">
            <a:solidFill>
              <a:srgbClr val="DDE2EA"/>
            </a:solidFill>
          </a:ln>
        </p:spPr>
        <p:txBody>
          <a:bodyPr wrap="square" lIns="0" tIns="144780" rIns="0" bIns="0" rtlCol="0" vert="horz">
            <a:spAutoFit/>
          </a:bodyPr>
          <a:lstStyle/>
          <a:p>
            <a:pPr marL="290830">
              <a:lnSpc>
                <a:spcPct val="100000"/>
              </a:lnSpc>
              <a:spcBef>
                <a:spcPts val="1140"/>
              </a:spcBef>
              <a:tabLst>
                <a:tab pos="727710" algn="l"/>
              </a:tabLst>
            </a:pPr>
            <a:r>
              <a:rPr dirty="0" baseline="-3086" sz="2700" spc="-7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baseline="-3086" sz="27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500" spc="-50" b="1">
                <a:solidFill>
                  <a:srgbClr val="1E2A49"/>
                </a:solidFill>
                <a:latin typeface="Times New Roman"/>
                <a:cs typeface="Times New Roman"/>
              </a:rPr>
              <a:t>Test</a:t>
            </a:r>
            <a:r>
              <a:rPr dirty="0" sz="1500" spc="-5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E2A49"/>
                </a:solidFill>
                <a:latin typeface="Times New Roman"/>
                <a:cs typeface="Times New Roman"/>
              </a:rPr>
              <a:t>Thoroughly:</a:t>
            </a:r>
            <a:r>
              <a:rPr dirty="0" sz="1500" spc="36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Verify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the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solution</a:t>
            </a:r>
            <a:r>
              <a:rPr dirty="0" sz="15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with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safe,</a:t>
            </a:r>
            <a:r>
              <a:rPr dirty="0" sz="15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unsafe</a:t>
            </a:r>
            <a:r>
              <a:rPr dirty="0" sz="1500" spc="-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5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invalid</a:t>
            </a:r>
            <a:r>
              <a:rPr dirty="0" sz="15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scenarios.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Our</a:t>
            </a:r>
            <a:r>
              <a:rPr dirty="0" spc="25"/>
              <a:t> </a:t>
            </a:r>
            <a:r>
              <a:rPr dirty="0"/>
              <a:t>Proposed</a:t>
            </a:r>
            <a:r>
              <a:rPr dirty="0" spc="90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143000"/>
            <a:ext cx="8229600" cy="962025"/>
          </a:xfrm>
          <a:prstGeom prst="rect">
            <a:avLst/>
          </a:prstGeom>
          <a:solidFill>
            <a:srgbClr val="1E2A49"/>
          </a:solidFill>
        </p:spPr>
        <p:txBody>
          <a:bodyPr wrap="square" lIns="0" tIns="217170" rIns="0" bIns="0" rtlCol="0" vert="horz">
            <a:spAutoFit/>
          </a:bodyPr>
          <a:lstStyle/>
          <a:p>
            <a:pPr marL="228600" marR="981075">
              <a:lnSpc>
                <a:spcPct val="100000"/>
              </a:lnSpc>
              <a:spcBef>
                <a:spcPts val="1710"/>
              </a:spcBef>
            </a:pPr>
            <a:r>
              <a:rPr dirty="0" sz="1700" spc="-5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dirty="0" sz="17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implement</a:t>
            </a:r>
            <a:r>
              <a:rPr dirty="0" sz="17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imes New Roman"/>
                <a:cs typeface="Times New Roman"/>
              </a:rPr>
              <a:t>Banker's</a:t>
            </a:r>
            <a:r>
              <a:rPr dirty="0" sz="17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dirty="0" sz="17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7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Python.</a:t>
            </a:r>
            <a:r>
              <a:rPr dirty="0" sz="17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dirty="0" sz="17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dirty="0" sz="17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resource</a:t>
            </a:r>
            <a:r>
              <a:rPr dirty="0" sz="17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1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granted,</a:t>
            </a:r>
            <a:r>
              <a:rPr dirty="0" sz="17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manager</a:t>
            </a:r>
            <a:r>
              <a:rPr dirty="0" sz="17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tests</a:t>
            </a:r>
            <a:r>
              <a:rPr dirty="0" sz="17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whether</a:t>
            </a:r>
            <a:r>
              <a:rPr dirty="0" sz="17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17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would</a:t>
            </a:r>
            <a:r>
              <a:rPr dirty="0" sz="17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still</a:t>
            </a:r>
            <a:r>
              <a:rPr dirty="0" sz="17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dirty="0" sz="1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FFFFFF"/>
                </a:solidFill>
                <a:latin typeface="Times New Roman"/>
                <a:cs typeface="Times New Roman"/>
              </a:rPr>
              <a:t>safe</a:t>
            </a:r>
            <a:r>
              <a:rPr dirty="0" sz="17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imes New Roman"/>
                <a:cs typeface="Times New Roman"/>
              </a:rPr>
              <a:t>afterwards.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5612" y="2332037"/>
            <a:ext cx="2574925" cy="1746250"/>
            <a:chOff x="455612" y="2332037"/>
            <a:chExt cx="2574925" cy="1746250"/>
          </a:xfrm>
        </p:grpSpPr>
        <p:sp>
          <p:nvSpPr>
            <p:cNvPr id="5" name="object 5"/>
            <p:cNvSpPr/>
            <p:nvPr/>
          </p:nvSpPr>
          <p:spPr>
            <a:xfrm>
              <a:off x="533400" y="2338387"/>
              <a:ext cx="2491105" cy="1733550"/>
            </a:xfrm>
            <a:custGeom>
              <a:avLst/>
              <a:gdLst/>
              <a:ahLst/>
              <a:cxnLst/>
              <a:rect l="l" t="t" r="r" b="b"/>
              <a:pathLst>
                <a:path w="2491105" h="1733550">
                  <a:moveTo>
                    <a:pt x="0" y="1733550"/>
                  </a:moveTo>
                  <a:lnTo>
                    <a:pt x="2490787" y="1733550"/>
                  </a:lnTo>
                  <a:lnTo>
                    <a:pt x="2490787" y="0"/>
                  </a:lnTo>
                  <a:lnTo>
                    <a:pt x="0" y="0"/>
                  </a:lnTo>
                  <a:lnTo>
                    <a:pt x="0" y="17335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1962" y="2338387"/>
              <a:ext cx="2562225" cy="1733550"/>
            </a:xfrm>
            <a:custGeom>
              <a:avLst/>
              <a:gdLst/>
              <a:ahLst/>
              <a:cxnLst/>
              <a:rect l="l" t="t" r="r" b="b"/>
              <a:pathLst>
                <a:path w="2562225" h="1733550">
                  <a:moveTo>
                    <a:pt x="0" y="1733550"/>
                  </a:moveTo>
                  <a:lnTo>
                    <a:pt x="2562225" y="1733550"/>
                  </a:lnTo>
                  <a:lnTo>
                    <a:pt x="2562225" y="0"/>
                  </a:lnTo>
                  <a:lnTo>
                    <a:pt x="0" y="0"/>
                  </a:lnTo>
                  <a:lnTo>
                    <a:pt x="0" y="1733550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7200" y="2333625"/>
              <a:ext cx="76200" cy="1733550"/>
            </a:xfrm>
            <a:custGeom>
              <a:avLst/>
              <a:gdLst/>
              <a:ahLst/>
              <a:cxnLst/>
              <a:rect l="l" t="t" r="r" b="b"/>
              <a:pathLst>
                <a:path w="76200" h="1733550">
                  <a:moveTo>
                    <a:pt x="76200" y="0"/>
                  </a:moveTo>
                  <a:lnTo>
                    <a:pt x="0" y="0"/>
                  </a:lnTo>
                  <a:lnTo>
                    <a:pt x="0" y="1733550"/>
                  </a:lnTo>
                  <a:lnTo>
                    <a:pt x="76200" y="1733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3400" y="2317606"/>
            <a:ext cx="2484755" cy="120904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345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1.</a:t>
            </a:r>
            <a:r>
              <a:rPr dirty="0" sz="1700" spc="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Simulate</a:t>
            </a:r>
            <a:endParaRPr sz="1700">
              <a:latin typeface="Times New Roman"/>
              <a:cs typeface="Times New Roman"/>
            </a:endParaRPr>
          </a:p>
          <a:p>
            <a:pPr marL="152400" marR="477520">
              <a:lnSpc>
                <a:spcPts val="1650"/>
              </a:lnSpc>
              <a:spcBef>
                <a:spcPts val="1120"/>
              </a:spcBef>
            </a:pP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Pretend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to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allocate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the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requested</a:t>
            </a:r>
            <a:r>
              <a:rPr dirty="0" sz="14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resources</a:t>
            </a:r>
            <a:r>
              <a:rPr dirty="0" sz="14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to</a:t>
            </a:r>
            <a:r>
              <a:rPr dirty="0" sz="14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the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process.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94126" y="2332037"/>
            <a:ext cx="2565400" cy="1746250"/>
            <a:chOff x="3294126" y="2332037"/>
            <a:chExt cx="2565400" cy="1746250"/>
          </a:xfrm>
        </p:grpSpPr>
        <p:sp>
          <p:nvSpPr>
            <p:cNvPr id="10" name="object 10"/>
            <p:cNvSpPr/>
            <p:nvPr/>
          </p:nvSpPr>
          <p:spPr>
            <a:xfrm>
              <a:off x="3362325" y="2338387"/>
              <a:ext cx="2491105" cy="1733550"/>
            </a:xfrm>
            <a:custGeom>
              <a:avLst/>
              <a:gdLst/>
              <a:ahLst/>
              <a:cxnLst/>
              <a:rect l="l" t="t" r="r" b="b"/>
              <a:pathLst>
                <a:path w="2491104" h="1733550">
                  <a:moveTo>
                    <a:pt x="0" y="1733550"/>
                  </a:moveTo>
                  <a:lnTo>
                    <a:pt x="2490851" y="1733550"/>
                  </a:lnTo>
                  <a:lnTo>
                    <a:pt x="2490851" y="0"/>
                  </a:lnTo>
                  <a:lnTo>
                    <a:pt x="0" y="0"/>
                  </a:lnTo>
                  <a:lnTo>
                    <a:pt x="0" y="17335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00476" y="2338387"/>
              <a:ext cx="2552700" cy="1733550"/>
            </a:xfrm>
            <a:custGeom>
              <a:avLst/>
              <a:gdLst/>
              <a:ahLst/>
              <a:cxnLst/>
              <a:rect l="l" t="t" r="r" b="b"/>
              <a:pathLst>
                <a:path w="2552700" h="1733550">
                  <a:moveTo>
                    <a:pt x="0" y="1733550"/>
                  </a:moveTo>
                  <a:lnTo>
                    <a:pt x="2552700" y="1733550"/>
                  </a:lnTo>
                  <a:lnTo>
                    <a:pt x="2552700" y="0"/>
                  </a:lnTo>
                  <a:lnTo>
                    <a:pt x="0" y="0"/>
                  </a:lnTo>
                  <a:lnTo>
                    <a:pt x="0" y="1733550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95650" y="2333625"/>
              <a:ext cx="66675" cy="1733550"/>
            </a:xfrm>
            <a:custGeom>
              <a:avLst/>
              <a:gdLst/>
              <a:ahLst/>
              <a:cxnLst/>
              <a:rect l="l" t="t" r="r" b="b"/>
              <a:pathLst>
                <a:path w="66675" h="1733550">
                  <a:moveTo>
                    <a:pt x="66675" y="0"/>
                  </a:moveTo>
                  <a:lnTo>
                    <a:pt x="0" y="0"/>
                  </a:lnTo>
                  <a:lnTo>
                    <a:pt x="0" y="1733550"/>
                  </a:lnTo>
                  <a:lnTo>
                    <a:pt x="66675" y="17335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362325" y="2317606"/>
            <a:ext cx="2484755" cy="120904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1345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2.</a:t>
            </a:r>
            <a:r>
              <a:rPr dirty="0" sz="1700" spc="1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Check</a:t>
            </a:r>
            <a:r>
              <a:rPr dirty="0" sz="1700" spc="-6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Safety</a:t>
            </a:r>
            <a:endParaRPr sz="1700">
              <a:latin typeface="Times New Roman"/>
              <a:cs typeface="Times New Roman"/>
            </a:endParaRPr>
          </a:p>
          <a:p>
            <a:pPr marL="161925" marR="180340">
              <a:lnSpc>
                <a:spcPts val="1650"/>
              </a:lnSpc>
              <a:spcBef>
                <a:spcPts val="1120"/>
              </a:spcBef>
            </a:pP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Run</a:t>
            </a:r>
            <a:r>
              <a:rPr dirty="0" sz="14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the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safety</a:t>
            </a:r>
            <a:r>
              <a:rPr dirty="0" sz="14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algorithm</a:t>
            </a:r>
            <a:r>
              <a:rPr dirty="0" sz="1400" spc="-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to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look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for</a:t>
            </a:r>
            <a:r>
              <a:rPr dirty="0" sz="14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safe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sequence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of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all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processes.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23051" y="2332037"/>
            <a:ext cx="2574925" cy="1746250"/>
            <a:chOff x="6123051" y="2332037"/>
            <a:chExt cx="2574925" cy="1746250"/>
          </a:xfrm>
        </p:grpSpPr>
        <p:sp>
          <p:nvSpPr>
            <p:cNvPr id="15" name="object 15"/>
            <p:cNvSpPr/>
            <p:nvPr/>
          </p:nvSpPr>
          <p:spPr>
            <a:xfrm>
              <a:off x="6200775" y="2338387"/>
              <a:ext cx="2491105" cy="1733550"/>
            </a:xfrm>
            <a:custGeom>
              <a:avLst/>
              <a:gdLst/>
              <a:ahLst/>
              <a:cxnLst/>
              <a:rect l="l" t="t" r="r" b="b"/>
              <a:pathLst>
                <a:path w="2491104" h="1733550">
                  <a:moveTo>
                    <a:pt x="0" y="1733550"/>
                  </a:moveTo>
                  <a:lnTo>
                    <a:pt x="2490851" y="1733550"/>
                  </a:lnTo>
                  <a:lnTo>
                    <a:pt x="2490851" y="0"/>
                  </a:lnTo>
                  <a:lnTo>
                    <a:pt x="0" y="0"/>
                  </a:lnTo>
                  <a:lnTo>
                    <a:pt x="0" y="17335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29401" y="2338387"/>
              <a:ext cx="2562225" cy="1733550"/>
            </a:xfrm>
            <a:custGeom>
              <a:avLst/>
              <a:gdLst/>
              <a:ahLst/>
              <a:cxnLst/>
              <a:rect l="l" t="t" r="r" b="b"/>
              <a:pathLst>
                <a:path w="2562225" h="1733550">
                  <a:moveTo>
                    <a:pt x="0" y="1733550"/>
                  </a:moveTo>
                  <a:lnTo>
                    <a:pt x="2562225" y="1733550"/>
                  </a:lnTo>
                  <a:lnTo>
                    <a:pt x="2562225" y="0"/>
                  </a:lnTo>
                  <a:lnTo>
                    <a:pt x="0" y="0"/>
                  </a:lnTo>
                  <a:lnTo>
                    <a:pt x="0" y="1733550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24575" y="2333625"/>
              <a:ext cx="76200" cy="1733550"/>
            </a:xfrm>
            <a:custGeom>
              <a:avLst/>
              <a:gdLst/>
              <a:ahLst/>
              <a:cxnLst/>
              <a:rect l="l" t="t" r="r" b="b"/>
              <a:pathLst>
                <a:path w="76200" h="1733550">
                  <a:moveTo>
                    <a:pt x="76200" y="0"/>
                  </a:moveTo>
                  <a:lnTo>
                    <a:pt x="0" y="0"/>
                  </a:lnTo>
                  <a:lnTo>
                    <a:pt x="0" y="1733550"/>
                  </a:lnTo>
                  <a:lnTo>
                    <a:pt x="76200" y="1733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200775" y="2317606"/>
            <a:ext cx="2484755" cy="128524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1345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3.</a:t>
            </a:r>
            <a:r>
              <a:rPr dirty="0" sz="1700" spc="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Decide</a:t>
            </a:r>
            <a:endParaRPr sz="1700">
              <a:latin typeface="Times New Roman"/>
              <a:cs typeface="Times New Roman"/>
            </a:endParaRPr>
          </a:p>
          <a:p>
            <a:pPr marL="160655">
              <a:lnSpc>
                <a:spcPct val="100000"/>
              </a:lnSpc>
              <a:spcBef>
                <a:spcPts val="1040"/>
              </a:spcBef>
            </a:pP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Safe:</a:t>
            </a:r>
            <a:r>
              <a:rPr dirty="0" sz="14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grant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the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request.</a:t>
            </a:r>
            <a:endParaRPr sz="1400">
              <a:latin typeface="Times New Roman"/>
              <a:cs typeface="Times New Roman"/>
            </a:endParaRPr>
          </a:p>
          <a:p>
            <a:pPr marL="160655" marR="360680">
              <a:lnSpc>
                <a:spcPts val="1650"/>
              </a:lnSpc>
              <a:spcBef>
                <a:spcPts val="655"/>
              </a:spcBef>
            </a:pP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Unsafe:</a:t>
            </a:r>
            <a:r>
              <a:rPr dirty="0" sz="1400" spc="-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roll</a:t>
            </a:r>
            <a:r>
              <a:rPr dirty="0" sz="1400" spc="-8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back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4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make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the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 process 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wait.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5134" y="4321175"/>
            <a:ext cx="61150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solidFill>
                  <a:srgbClr val="1E2A49"/>
                </a:solidFill>
                <a:latin typeface="Times New Roman"/>
                <a:cs typeface="Times New Roman"/>
              </a:rPr>
              <a:t>Outcome:</a:t>
            </a:r>
            <a:r>
              <a:rPr dirty="0" sz="1550" spc="15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the</a:t>
            </a:r>
            <a:r>
              <a:rPr dirty="0" sz="1550" spc="1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system</a:t>
            </a:r>
            <a:r>
              <a:rPr dirty="0" sz="1550" spc="1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never</a:t>
            </a:r>
            <a:r>
              <a:rPr dirty="0" sz="1550" spc="9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enters</a:t>
            </a:r>
            <a:r>
              <a:rPr dirty="0" sz="1550" spc="1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an</a:t>
            </a:r>
            <a:r>
              <a:rPr dirty="0" sz="1550" spc="1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unsafe</a:t>
            </a:r>
            <a:r>
              <a:rPr dirty="0" sz="1550" spc="5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state,</a:t>
            </a:r>
            <a:r>
              <a:rPr dirty="0" sz="1550" spc="6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so</a:t>
            </a:r>
            <a:r>
              <a:rPr dirty="0" sz="1550" spc="1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deadlock</a:t>
            </a:r>
            <a:r>
              <a:rPr dirty="0" sz="1550" spc="1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is</a:t>
            </a:r>
            <a:r>
              <a:rPr dirty="0" sz="1550" spc="16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495368"/>
                </a:solidFill>
                <a:latin typeface="Times New Roman"/>
                <a:cs typeface="Times New Roman"/>
              </a:rPr>
              <a:t>avoided.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System</a:t>
            </a:r>
            <a:r>
              <a:rPr dirty="0" spc="155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/>
          <p:cNvSpPr/>
          <p:nvPr/>
        </p:nvSpPr>
        <p:spPr>
          <a:xfrm>
            <a:off x="323850" y="1276350"/>
            <a:ext cx="1457325" cy="1743075"/>
          </a:xfrm>
          <a:custGeom>
            <a:avLst/>
            <a:gdLst/>
            <a:ahLst/>
            <a:cxnLst/>
            <a:rect l="l" t="t" r="r" b="b"/>
            <a:pathLst>
              <a:path w="1457325" h="1743075">
                <a:moveTo>
                  <a:pt x="1366266" y="0"/>
                </a:moveTo>
                <a:lnTo>
                  <a:pt x="91084" y="0"/>
                </a:lnTo>
                <a:lnTo>
                  <a:pt x="55630" y="7155"/>
                </a:lnTo>
                <a:lnTo>
                  <a:pt x="26677" y="26669"/>
                </a:lnTo>
                <a:lnTo>
                  <a:pt x="7157" y="55614"/>
                </a:lnTo>
                <a:lnTo>
                  <a:pt x="0" y="91059"/>
                </a:lnTo>
                <a:lnTo>
                  <a:pt x="0" y="1652016"/>
                </a:lnTo>
                <a:lnTo>
                  <a:pt x="7157" y="1687460"/>
                </a:lnTo>
                <a:lnTo>
                  <a:pt x="26677" y="1716405"/>
                </a:lnTo>
                <a:lnTo>
                  <a:pt x="55630" y="1735919"/>
                </a:lnTo>
                <a:lnTo>
                  <a:pt x="91084" y="1743075"/>
                </a:lnTo>
                <a:lnTo>
                  <a:pt x="1366266" y="1743075"/>
                </a:lnTo>
                <a:lnTo>
                  <a:pt x="1401710" y="1735919"/>
                </a:lnTo>
                <a:lnTo>
                  <a:pt x="1430655" y="1716405"/>
                </a:lnTo>
                <a:lnTo>
                  <a:pt x="1450169" y="1687460"/>
                </a:lnTo>
                <a:lnTo>
                  <a:pt x="1457325" y="1652016"/>
                </a:lnTo>
                <a:lnTo>
                  <a:pt x="1457325" y="91059"/>
                </a:lnTo>
                <a:lnTo>
                  <a:pt x="1450169" y="55614"/>
                </a:lnTo>
                <a:lnTo>
                  <a:pt x="1430655" y="26670"/>
                </a:lnTo>
                <a:lnTo>
                  <a:pt x="1401710" y="7155"/>
                </a:lnTo>
                <a:lnTo>
                  <a:pt x="1366266" y="0"/>
                </a:lnTo>
                <a:close/>
              </a:path>
            </a:pathLst>
          </a:custGeom>
          <a:solidFill>
            <a:srgbClr val="1E2A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88632" y="1436052"/>
            <a:ext cx="1124585" cy="763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25"/>
              </a:spcBef>
            </a:pPr>
            <a:r>
              <a:rPr dirty="0" sz="1550" spc="-10" b="1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  <a:endParaRPr sz="1550">
              <a:latin typeface="Times New Roman"/>
              <a:cs typeface="Times New Roman"/>
            </a:endParaRPr>
          </a:p>
          <a:p>
            <a:pPr algn="ctr" marL="12065" marR="5080" indent="3175">
              <a:lnSpc>
                <a:spcPts val="1430"/>
              </a:lnSpc>
              <a:spcBef>
                <a:spcPts val="1115"/>
              </a:spcBef>
            </a:pP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Max,</a:t>
            </a:r>
            <a:r>
              <a:rPr dirty="0" sz="12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Allocation, Available,</a:t>
            </a:r>
            <a:r>
              <a:rPr dirty="0" sz="12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85873" y="1276350"/>
            <a:ext cx="1738630" cy="1743075"/>
            <a:chOff x="1785873" y="1276350"/>
            <a:chExt cx="1738630" cy="1743075"/>
          </a:xfrm>
        </p:grpSpPr>
        <p:sp>
          <p:nvSpPr>
            <p:cNvPr id="6" name="object 6"/>
            <p:cNvSpPr/>
            <p:nvPr/>
          </p:nvSpPr>
          <p:spPr>
            <a:xfrm>
              <a:off x="1785873" y="2119375"/>
              <a:ext cx="276225" cy="76200"/>
            </a:xfrm>
            <a:custGeom>
              <a:avLst/>
              <a:gdLst/>
              <a:ahLst/>
              <a:cxnLst/>
              <a:rect l="l" t="t" r="r" b="b"/>
              <a:pathLst>
                <a:path w="276225" h="76200">
                  <a:moveTo>
                    <a:pt x="200025" y="0"/>
                  </a:moveTo>
                  <a:lnTo>
                    <a:pt x="200025" y="76200"/>
                  </a:lnTo>
                  <a:lnTo>
                    <a:pt x="250825" y="50800"/>
                  </a:lnTo>
                  <a:lnTo>
                    <a:pt x="212725" y="50800"/>
                  </a:lnTo>
                  <a:lnTo>
                    <a:pt x="212725" y="25400"/>
                  </a:lnTo>
                  <a:lnTo>
                    <a:pt x="250825" y="25400"/>
                  </a:lnTo>
                  <a:lnTo>
                    <a:pt x="200025" y="0"/>
                  </a:lnTo>
                  <a:close/>
                </a:path>
                <a:path w="276225" h="76200">
                  <a:moveTo>
                    <a:pt x="200025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00025" y="50800"/>
                  </a:lnTo>
                  <a:lnTo>
                    <a:pt x="200025" y="25400"/>
                  </a:lnTo>
                  <a:close/>
                </a:path>
                <a:path w="276225" h="76200">
                  <a:moveTo>
                    <a:pt x="250825" y="25400"/>
                  </a:moveTo>
                  <a:lnTo>
                    <a:pt x="212725" y="25400"/>
                  </a:lnTo>
                  <a:lnTo>
                    <a:pt x="212725" y="50800"/>
                  </a:lnTo>
                  <a:lnTo>
                    <a:pt x="250825" y="50800"/>
                  </a:lnTo>
                  <a:lnTo>
                    <a:pt x="276225" y="38100"/>
                  </a:lnTo>
                  <a:lnTo>
                    <a:pt x="250825" y="25400"/>
                  </a:lnTo>
                  <a:close/>
                </a:path>
              </a:pathLst>
            </a:custGeom>
            <a:solidFill>
              <a:srgbClr val="4953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57399" y="1276350"/>
              <a:ext cx="1466850" cy="1743075"/>
            </a:xfrm>
            <a:custGeom>
              <a:avLst/>
              <a:gdLst/>
              <a:ahLst/>
              <a:cxnLst/>
              <a:rect l="l" t="t" r="r" b="b"/>
              <a:pathLst>
                <a:path w="1466850" h="1743075">
                  <a:moveTo>
                    <a:pt x="1375155" y="0"/>
                  </a:moveTo>
                  <a:lnTo>
                    <a:pt x="91693" y="0"/>
                  </a:lnTo>
                  <a:lnTo>
                    <a:pt x="55989" y="7201"/>
                  </a:lnTo>
                  <a:lnTo>
                    <a:pt x="26844" y="26844"/>
                  </a:lnTo>
                  <a:lnTo>
                    <a:pt x="7201" y="55989"/>
                  </a:lnTo>
                  <a:lnTo>
                    <a:pt x="0" y="91694"/>
                  </a:lnTo>
                  <a:lnTo>
                    <a:pt x="0" y="1651381"/>
                  </a:lnTo>
                  <a:lnTo>
                    <a:pt x="7201" y="1687085"/>
                  </a:lnTo>
                  <a:lnTo>
                    <a:pt x="26844" y="1716230"/>
                  </a:lnTo>
                  <a:lnTo>
                    <a:pt x="55989" y="1735873"/>
                  </a:lnTo>
                  <a:lnTo>
                    <a:pt x="91693" y="1743075"/>
                  </a:lnTo>
                  <a:lnTo>
                    <a:pt x="1375155" y="1743075"/>
                  </a:lnTo>
                  <a:lnTo>
                    <a:pt x="1410860" y="1735873"/>
                  </a:lnTo>
                  <a:lnTo>
                    <a:pt x="1440005" y="1716230"/>
                  </a:lnTo>
                  <a:lnTo>
                    <a:pt x="1459648" y="1687085"/>
                  </a:lnTo>
                  <a:lnTo>
                    <a:pt x="1466850" y="1651381"/>
                  </a:lnTo>
                  <a:lnTo>
                    <a:pt x="1466850" y="91694"/>
                  </a:lnTo>
                  <a:lnTo>
                    <a:pt x="1459648" y="55989"/>
                  </a:lnTo>
                  <a:lnTo>
                    <a:pt x="1440005" y="26844"/>
                  </a:lnTo>
                  <a:lnTo>
                    <a:pt x="1410860" y="7201"/>
                  </a:lnTo>
                  <a:lnTo>
                    <a:pt x="1375155" y="0"/>
                  </a:lnTo>
                  <a:close/>
                </a:path>
              </a:pathLst>
            </a:custGeom>
            <a:solidFill>
              <a:srgbClr val="1E2A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146935" y="1436052"/>
            <a:ext cx="1283335" cy="763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125"/>
              </a:spcBef>
            </a:pPr>
            <a:r>
              <a:rPr dirty="0" sz="1550" spc="-10" b="1">
                <a:solidFill>
                  <a:srgbClr val="FFFFFF"/>
                </a:solidFill>
                <a:latin typeface="Times New Roman"/>
                <a:cs typeface="Times New Roman"/>
              </a:rPr>
              <a:t>Validate</a:t>
            </a:r>
            <a:endParaRPr sz="1550">
              <a:latin typeface="Times New Roman"/>
              <a:cs typeface="Times New Roman"/>
            </a:endParaRPr>
          </a:p>
          <a:p>
            <a:pPr algn="ctr" marL="12700" marR="5080" indent="8890">
              <a:lnSpc>
                <a:spcPts val="1430"/>
              </a:lnSpc>
              <a:spcBef>
                <a:spcPts val="1115"/>
              </a:spcBef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within</a:t>
            </a:r>
            <a:r>
              <a:rPr dirty="0" sz="1200" spc="5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dirty="0" sz="12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imes New Roman"/>
                <a:cs typeface="Times New Roman"/>
              </a:rPr>
              <a:t>Available?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28948" y="1276350"/>
            <a:ext cx="1729105" cy="1743075"/>
            <a:chOff x="3528948" y="1276350"/>
            <a:chExt cx="1729105" cy="1743075"/>
          </a:xfrm>
        </p:grpSpPr>
        <p:sp>
          <p:nvSpPr>
            <p:cNvPr id="10" name="object 10"/>
            <p:cNvSpPr/>
            <p:nvPr/>
          </p:nvSpPr>
          <p:spPr>
            <a:xfrm>
              <a:off x="3528948" y="2119375"/>
              <a:ext cx="266700" cy="76200"/>
            </a:xfrm>
            <a:custGeom>
              <a:avLst/>
              <a:gdLst/>
              <a:ahLst/>
              <a:cxnLst/>
              <a:rect l="l" t="t" r="r" b="b"/>
              <a:pathLst>
                <a:path w="266700" h="76200">
                  <a:moveTo>
                    <a:pt x="190500" y="0"/>
                  </a:moveTo>
                  <a:lnTo>
                    <a:pt x="190500" y="76200"/>
                  </a:lnTo>
                  <a:lnTo>
                    <a:pt x="241300" y="50800"/>
                  </a:lnTo>
                  <a:lnTo>
                    <a:pt x="203200" y="50800"/>
                  </a:lnTo>
                  <a:lnTo>
                    <a:pt x="203200" y="25400"/>
                  </a:lnTo>
                  <a:lnTo>
                    <a:pt x="241300" y="25400"/>
                  </a:lnTo>
                  <a:lnTo>
                    <a:pt x="190500" y="0"/>
                  </a:lnTo>
                  <a:close/>
                </a:path>
                <a:path w="266700" h="76200">
                  <a:moveTo>
                    <a:pt x="1905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190500" y="50800"/>
                  </a:lnTo>
                  <a:lnTo>
                    <a:pt x="190500" y="25400"/>
                  </a:lnTo>
                  <a:close/>
                </a:path>
                <a:path w="266700" h="76200">
                  <a:moveTo>
                    <a:pt x="241300" y="25400"/>
                  </a:moveTo>
                  <a:lnTo>
                    <a:pt x="203200" y="25400"/>
                  </a:lnTo>
                  <a:lnTo>
                    <a:pt x="203200" y="50800"/>
                  </a:lnTo>
                  <a:lnTo>
                    <a:pt x="241300" y="50800"/>
                  </a:lnTo>
                  <a:lnTo>
                    <a:pt x="266700" y="38100"/>
                  </a:lnTo>
                  <a:lnTo>
                    <a:pt x="241300" y="25400"/>
                  </a:lnTo>
                  <a:close/>
                </a:path>
              </a:pathLst>
            </a:custGeom>
            <a:solidFill>
              <a:srgbClr val="4953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90949" y="1276350"/>
              <a:ext cx="1466850" cy="1743075"/>
            </a:xfrm>
            <a:custGeom>
              <a:avLst/>
              <a:gdLst/>
              <a:ahLst/>
              <a:cxnLst/>
              <a:rect l="l" t="t" r="r" b="b"/>
              <a:pathLst>
                <a:path w="1466850" h="1743075">
                  <a:moveTo>
                    <a:pt x="1375155" y="0"/>
                  </a:moveTo>
                  <a:lnTo>
                    <a:pt x="91694" y="0"/>
                  </a:lnTo>
                  <a:lnTo>
                    <a:pt x="55989" y="7201"/>
                  </a:lnTo>
                  <a:lnTo>
                    <a:pt x="26844" y="26844"/>
                  </a:lnTo>
                  <a:lnTo>
                    <a:pt x="7201" y="55989"/>
                  </a:lnTo>
                  <a:lnTo>
                    <a:pt x="0" y="91694"/>
                  </a:lnTo>
                  <a:lnTo>
                    <a:pt x="0" y="1651381"/>
                  </a:lnTo>
                  <a:lnTo>
                    <a:pt x="7201" y="1687085"/>
                  </a:lnTo>
                  <a:lnTo>
                    <a:pt x="26844" y="1716230"/>
                  </a:lnTo>
                  <a:lnTo>
                    <a:pt x="55989" y="1735873"/>
                  </a:lnTo>
                  <a:lnTo>
                    <a:pt x="91694" y="1743075"/>
                  </a:lnTo>
                  <a:lnTo>
                    <a:pt x="1375155" y="1743075"/>
                  </a:lnTo>
                  <a:lnTo>
                    <a:pt x="1410860" y="1735873"/>
                  </a:lnTo>
                  <a:lnTo>
                    <a:pt x="1440005" y="1716230"/>
                  </a:lnTo>
                  <a:lnTo>
                    <a:pt x="1459648" y="1687085"/>
                  </a:lnTo>
                  <a:lnTo>
                    <a:pt x="1466850" y="1651381"/>
                  </a:lnTo>
                  <a:lnTo>
                    <a:pt x="1466850" y="91694"/>
                  </a:lnTo>
                  <a:lnTo>
                    <a:pt x="1459648" y="55989"/>
                  </a:lnTo>
                  <a:lnTo>
                    <a:pt x="1440005" y="26844"/>
                  </a:lnTo>
                  <a:lnTo>
                    <a:pt x="1410860" y="7201"/>
                  </a:lnTo>
                  <a:lnTo>
                    <a:pt x="1375155" y="0"/>
                  </a:lnTo>
                  <a:close/>
                </a:path>
              </a:pathLst>
            </a:custGeom>
            <a:solidFill>
              <a:srgbClr val="1E2A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928490" y="1436052"/>
            <a:ext cx="1198880" cy="763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550" spc="-10" b="1">
                <a:solidFill>
                  <a:srgbClr val="FFFFFF"/>
                </a:solidFill>
                <a:latin typeface="Times New Roman"/>
                <a:cs typeface="Times New Roman"/>
              </a:rPr>
              <a:t>Trial</a:t>
            </a:r>
            <a:r>
              <a:rPr dirty="0" sz="155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Times New Roman"/>
                <a:cs typeface="Times New Roman"/>
              </a:rPr>
              <a:t>Allocate</a:t>
            </a:r>
            <a:endParaRPr sz="1550">
              <a:latin typeface="Times New Roman"/>
              <a:cs typeface="Times New Roman"/>
            </a:endParaRPr>
          </a:p>
          <a:p>
            <a:pPr algn="ctr" marL="26034" marR="6350">
              <a:lnSpc>
                <a:spcPts val="1430"/>
              </a:lnSpc>
              <a:spcBef>
                <a:spcPts val="1115"/>
              </a:spcBef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Pretend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give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62498" y="1276350"/>
            <a:ext cx="1729105" cy="1743075"/>
            <a:chOff x="5262498" y="1276350"/>
            <a:chExt cx="1729105" cy="1743075"/>
          </a:xfrm>
        </p:grpSpPr>
        <p:sp>
          <p:nvSpPr>
            <p:cNvPr id="14" name="object 14"/>
            <p:cNvSpPr/>
            <p:nvPr/>
          </p:nvSpPr>
          <p:spPr>
            <a:xfrm>
              <a:off x="5262498" y="2119375"/>
              <a:ext cx="276225" cy="76200"/>
            </a:xfrm>
            <a:custGeom>
              <a:avLst/>
              <a:gdLst/>
              <a:ahLst/>
              <a:cxnLst/>
              <a:rect l="l" t="t" r="r" b="b"/>
              <a:pathLst>
                <a:path w="276225" h="76200">
                  <a:moveTo>
                    <a:pt x="200025" y="0"/>
                  </a:moveTo>
                  <a:lnTo>
                    <a:pt x="200025" y="76200"/>
                  </a:lnTo>
                  <a:lnTo>
                    <a:pt x="250825" y="50800"/>
                  </a:lnTo>
                  <a:lnTo>
                    <a:pt x="212725" y="50800"/>
                  </a:lnTo>
                  <a:lnTo>
                    <a:pt x="212725" y="25400"/>
                  </a:lnTo>
                  <a:lnTo>
                    <a:pt x="250825" y="25400"/>
                  </a:lnTo>
                  <a:lnTo>
                    <a:pt x="200025" y="0"/>
                  </a:lnTo>
                  <a:close/>
                </a:path>
                <a:path w="276225" h="76200">
                  <a:moveTo>
                    <a:pt x="200025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00025" y="50800"/>
                  </a:lnTo>
                  <a:lnTo>
                    <a:pt x="200025" y="25400"/>
                  </a:lnTo>
                  <a:close/>
                </a:path>
                <a:path w="276225" h="76200">
                  <a:moveTo>
                    <a:pt x="250825" y="25400"/>
                  </a:moveTo>
                  <a:lnTo>
                    <a:pt x="212725" y="25400"/>
                  </a:lnTo>
                  <a:lnTo>
                    <a:pt x="212725" y="50800"/>
                  </a:lnTo>
                  <a:lnTo>
                    <a:pt x="250825" y="50800"/>
                  </a:lnTo>
                  <a:lnTo>
                    <a:pt x="276225" y="38100"/>
                  </a:lnTo>
                  <a:lnTo>
                    <a:pt x="250825" y="25400"/>
                  </a:lnTo>
                  <a:close/>
                </a:path>
              </a:pathLst>
            </a:custGeom>
            <a:solidFill>
              <a:srgbClr val="4953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534024" y="1276350"/>
              <a:ext cx="1457325" cy="1743075"/>
            </a:xfrm>
            <a:custGeom>
              <a:avLst/>
              <a:gdLst/>
              <a:ahLst/>
              <a:cxnLst/>
              <a:rect l="l" t="t" r="r" b="b"/>
              <a:pathLst>
                <a:path w="1457325" h="1743075">
                  <a:moveTo>
                    <a:pt x="1366266" y="0"/>
                  </a:moveTo>
                  <a:lnTo>
                    <a:pt x="91059" y="0"/>
                  </a:lnTo>
                  <a:lnTo>
                    <a:pt x="55614" y="7155"/>
                  </a:lnTo>
                  <a:lnTo>
                    <a:pt x="26670" y="26669"/>
                  </a:lnTo>
                  <a:lnTo>
                    <a:pt x="7155" y="55614"/>
                  </a:lnTo>
                  <a:lnTo>
                    <a:pt x="0" y="91059"/>
                  </a:lnTo>
                  <a:lnTo>
                    <a:pt x="0" y="1652016"/>
                  </a:lnTo>
                  <a:lnTo>
                    <a:pt x="7155" y="1687460"/>
                  </a:lnTo>
                  <a:lnTo>
                    <a:pt x="26669" y="1716405"/>
                  </a:lnTo>
                  <a:lnTo>
                    <a:pt x="55614" y="1735919"/>
                  </a:lnTo>
                  <a:lnTo>
                    <a:pt x="91059" y="1743075"/>
                  </a:lnTo>
                  <a:lnTo>
                    <a:pt x="1366266" y="1743075"/>
                  </a:lnTo>
                  <a:lnTo>
                    <a:pt x="1401710" y="1735919"/>
                  </a:lnTo>
                  <a:lnTo>
                    <a:pt x="1430654" y="1716405"/>
                  </a:lnTo>
                  <a:lnTo>
                    <a:pt x="1450169" y="1687460"/>
                  </a:lnTo>
                  <a:lnTo>
                    <a:pt x="1457325" y="1652016"/>
                  </a:lnTo>
                  <a:lnTo>
                    <a:pt x="1457325" y="91059"/>
                  </a:lnTo>
                  <a:lnTo>
                    <a:pt x="1450169" y="55614"/>
                  </a:lnTo>
                  <a:lnTo>
                    <a:pt x="1430654" y="26670"/>
                  </a:lnTo>
                  <a:lnTo>
                    <a:pt x="1401710" y="7155"/>
                  </a:lnTo>
                  <a:lnTo>
                    <a:pt x="1366266" y="0"/>
                  </a:lnTo>
                  <a:close/>
                </a:path>
              </a:pathLst>
            </a:custGeom>
            <a:solidFill>
              <a:srgbClr val="1E2A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622544" y="1436052"/>
            <a:ext cx="1292860" cy="582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solidFill>
                  <a:srgbClr val="FFFFFF"/>
                </a:solidFill>
                <a:latin typeface="Times New Roman"/>
                <a:cs typeface="Times New Roman"/>
              </a:rPr>
              <a:t>Safety</a:t>
            </a:r>
            <a:r>
              <a:rPr dirty="0" sz="1550" spc="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Times New Roman"/>
                <a:cs typeface="Times New Roman"/>
              </a:rPr>
              <a:t>Check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12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2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safe</a:t>
            </a:r>
            <a:r>
              <a:rPr dirty="0" sz="12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sequence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96048" y="1276350"/>
            <a:ext cx="1738630" cy="1743075"/>
            <a:chOff x="6996048" y="1276350"/>
            <a:chExt cx="1738630" cy="1743075"/>
          </a:xfrm>
        </p:grpSpPr>
        <p:sp>
          <p:nvSpPr>
            <p:cNvPr id="18" name="object 18"/>
            <p:cNvSpPr/>
            <p:nvPr/>
          </p:nvSpPr>
          <p:spPr>
            <a:xfrm>
              <a:off x="6996048" y="2119375"/>
              <a:ext cx="276225" cy="76200"/>
            </a:xfrm>
            <a:custGeom>
              <a:avLst/>
              <a:gdLst/>
              <a:ahLst/>
              <a:cxnLst/>
              <a:rect l="l" t="t" r="r" b="b"/>
              <a:pathLst>
                <a:path w="276225" h="76200">
                  <a:moveTo>
                    <a:pt x="200025" y="0"/>
                  </a:moveTo>
                  <a:lnTo>
                    <a:pt x="200025" y="76200"/>
                  </a:lnTo>
                  <a:lnTo>
                    <a:pt x="250825" y="50800"/>
                  </a:lnTo>
                  <a:lnTo>
                    <a:pt x="212725" y="50800"/>
                  </a:lnTo>
                  <a:lnTo>
                    <a:pt x="212725" y="25400"/>
                  </a:lnTo>
                  <a:lnTo>
                    <a:pt x="250825" y="25400"/>
                  </a:lnTo>
                  <a:lnTo>
                    <a:pt x="200025" y="0"/>
                  </a:lnTo>
                  <a:close/>
                </a:path>
                <a:path w="276225" h="76200">
                  <a:moveTo>
                    <a:pt x="200025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00025" y="50800"/>
                  </a:lnTo>
                  <a:lnTo>
                    <a:pt x="200025" y="25400"/>
                  </a:lnTo>
                  <a:close/>
                </a:path>
                <a:path w="276225" h="76200">
                  <a:moveTo>
                    <a:pt x="250825" y="25400"/>
                  </a:moveTo>
                  <a:lnTo>
                    <a:pt x="212725" y="25400"/>
                  </a:lnTo>
                  <a:lnTo>
                    <a:pt x="212725" y="50800"/>
                  </a:lnTo>
                  <a:lnTo>
                    <a:pt x="250825" y="50800"/>
                  </a:lnTo>
                  <a:lnTo>
                    <a:pt x="276225" y="38100"/>
                  </a:lnTo>
                  <a:lnTo>
                    <a:pt x="250825" y="25400"/>
                  </a:lnTo>
                  <a:close/>
                </a:path>
              </a:pathLst>
            </a:custGeom>
            <a:solidFill>
              <a:srgbClr val="4953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267574" y="1276350"/>
              <a:ext cx="1466850" cy="1743075"/>
            </a:xfrm>
            <a:custGeom>
              <a:avLst/>
              <a:gdLst/>
              <a:ahLst/>
              <a:cxnLst/>
              <a:rect l="l" t="t" r="r" b="b"/>
              <a:pathLst>
                <a:path w="1466850" h="1743075">
                  <a:moveTo>
                    <a:pt x="1375155" y="0"/>
                  </a:moveTo>
                  <a:lnTo>
                    <a:pt x="91694" y="0"/>
                  </a:lnTo>
                  <a:lnTo>
                    <a:pt x="55989" y="7201"/>
                  </a:lnTo>
                  <a:lnTo>
                    <a:pt x="26844" y="26844"/>
                  </a:lnTo>
                  <a:lnTo>
                    <a:pt x="7201" y="55989"/>
                  </a:lnTo>
                  <a:lnTo>
                    <a:pt x="0" y="91694"/>
                  </a:lnTo>
                  <a:lnTo>
                    <a:pt x="0" y="1651381"/>
                  </a:lnTo>
                  <a:lnTo>
                    <a:pt x="7201" y="1687085"/>
                  </a:lnTo>
                  <a:lnTo>
                    <a:pt x="26844" y="1716230"/>
                  </a:lnTo>
                  <a:lnTo>
                    <a:pt x="55989" y="1735873"/>
                  </a:lnTo>
                  <a:lnTo>
                    <a:pt x="91694" y="1743075"/>
                  </a:lnTo>
                  <a:lnTo>
                    <a:pt x="1375155" y="1743075"/>
                  </a:lnTo>
                  <a:lnTo>
                    <a:pt x="1410860" y="1735873"/>
                  </a:lnTo>
                  <a:lnTo>
                    <a:pt x="1440005" y="1716230"/>
                  </a:lnTo>
                  <a:lnTo>
                    <a:pt x="1459648" y="1687085"/>
                  </a:lnTo>
                  <a:lnTo>
                    <a:pt x="1466850" y="1651381"/>
                  </a:lnTo>
                  <a:lnTo>
                    <a:pt x="1466850" y="91694"/>
                  </a:lnTo>
                  <a:lnTo>
                    <a:pt x="1459648" y="55989"/>
                  </a:lnTo>
                  <a:lnTo>
                    <a:pt x="1440005" y="26844"/>
                  </a:lnTo>
                  <a:lnTo>
                    <a:pt x="1410860" y="7201"/>
                  </a:lnTo>
                  <a:lnTo>
                    <a:pt x="137515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469505" y="1436052"/>
            <a:ext cx="1082675" cy="9455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550" spc="-10" b="1">
                <a:solidFill>
                  <a:srgbClr val="FFFFFF"/>
                </a:solidFill>
                <a:latin typeface="Times New Roman"/>
                <a:cs typeface="Times New Roman"/>
              </a:rPr>
              <a:t>Decision</a:t>
            </a:r>
            <a:endParaRPr sz="1550">
              <a:latin typeface="Times New Roman"/>
              <a:cs typeface="Times New Roman"/>
            </a:endParaRPr>
          </a:p>
          <a:p>
            <a:pPr algn="ctr" marL="12700" marR="5080" indent="-6985">
              <a:lnSpc>
                <a:spcPct val="99100"/>
              </a:lnSpc>
              <a:spcBef>
                <a:spcPts val="1075"/>
              </a:spcBef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Safe:</a:t>
            </a:r>
            <a:r>
              <a:rPr dirty="0" sz="12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GRANT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Unsafe:</a:t>
            </a:r>
            <a:r>
              <a:rPr dirty="0" sz="12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DENY</a:t>
            </a:r>
            <a:r>
              <a:rPr dirty="0" sz="12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imes New Roman"/>
                <a:cs typeface="Times New Roman"/>
              </a:rPr>
              <a:t>+ 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rollback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1962" y="3338512"/>
            <a:ext cx="8229600" cy="119062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</p:spPr>
        <p:txBody>
          <a:bodyPr wrap="square" lIns="0" tIns="635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endParaRPr sz="1250">
              <a:latin typeface="Times New Roman"/>
              <a:cs typeface="Times New Roman"/>
            </a:endParaRPr>
          </a:p>
          <a:p>
            <a:pPr marL="178435">
              <a:lnSpc>
                <a:spcPct val="100000"/>
              </a:lnSpc>
            </a:pP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Data</a:t>
            </a:r>
            <a:r>
              <a:rPr dirty="0" sz="1250" spc="11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structures</a:t>
            </a:r>
            <a:r>
              <a:rPr dirty="0" sz="1250" spc="9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(n</a:t>
            </a:r>
            <a:r>
              <a:rPr dirty="0" sz="1250" spc="12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processes,</a:t>
            </a:r>
            <a:r>
              <a:rPr dirty="0" sz="1250" spc="4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m</a:t>
            </a:r>
            <a:r>
              <a:rPr dirty="0" sz="1250" spc="14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resource</a:t>
            </a:r>
            <a:r>
              <a:rPr dirty="0" sz="1250" spc="10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E2A49"/>
                </a:solidFill>
                <a:latin typeface="Times New Roman"/>
                <a:cs typeface="Times New Roman"/>
              </a:rPr>
              <a:t>types)</a:t>
            </a:r>
            <a:endParaRPr sz="1250">
              <a:latin typeface="Times New Roman"/>
              <a:cs typeface="Times New Roman"/>
            </a:endParaRPr>
          </a:p>
          <a:p>
            <a:pPr marL="178435" marR="2854325">
              <a:lnSpc>
                <a:spcPts val="2030"/>
              </a:lnSpc>
              <a:spcBef>
                <a:spcPts val="75"/>
              </a:spcBef>
            </a:pP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Available[m]</a:t>
            </a:r>
            <a:r>
              <a:rPr dirty="0" sz="1250" spc="295">
                <a:solidFill>
                  <a:srgbClr val="495368"/>
                </a:solidFill>
                <a:latin typeface="Times New Roman"/>
                <a:cs typeface="Times New Roman"/>
              </a:rPr>
              <a:t> 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Max[n][m]</a:t>
            </a:r>
            <a:r>
              <a:rPr dirty="0" sz="1250" spc="204">
                <a:solidFill>
                  <a:srgbClr val="495368"/>
                </a:solidFill>
                <a:latin typeface="Times New Roman"/>
                <a:cs typeface="Times New Roman"/>
              </a:rPr>
              <a:t> 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Allocation[n][m]</a:t>
            </a:r>
            <a:r>
              <a:rPr dirty="0" sz="1250" spc="295">
                <a:solidFill>
                  <a:srgbClr val="495368"/>
                </a:solidFill>
                <a:latin typeface="Times New Roman"/>
                <a:cs typeface="Times New Roman"/>
              </a:rPr>
              <a:t> 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Need[n][m]</a:t>
            </a:r>
            <a:r>
              <a:rPr dirty="0" sz="1250" spc="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=</a:t>
            </a:r>
            <a:r>
              <a:rPr dirty="0" sz="1250" spc="17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Max</a:t>
            </a:r>
            <a:r>
              <a:rPr dirty="0" sz="1250" spc="1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-</a:t>
            </a:r>
            <a:r>
              <a:rPr dirty="0" sz="1250" spc="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495368"/>
                </a:solidFill>
                <a:latin typeface="Times New Roman"/>
                <a:cs typeface="Times New Roman"/>
              </a:rPr>
              <a:t>Allocation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Two</a:t>
            </a:r>
            <a:r>
              <a:rPr dirty="0" sz="1250" spc="15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modules:</a:t>
            </a:r>
            <a:r>
              <a:rPr dirty="0" sz="1250" spc="1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bankers.py</a:t>
            </a:r>
            <a:r>
              <a:rPr dirty="0" sz="1250" spc="16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(algorithm)</a:t>
            </a:r>
            <a:r>
              <a:rPr dirty="0" sz="1250" spc="1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250" spc="15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main.py</a:t>
            </a:r>
            <a:r>
              <a:rPr dirty="0" sz="1250" spc="16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(command-line</a:t>
            </a:r>
            <a:r>
              <a:rPr dirty="0" sz="1250" spc="1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495368"/>
                </a:solidFill>
                <a:latin typeface="Times New Roman"/>
                <a:cs typeface="Times New Roman"/>
              </a:rPr>
              <a:t>interface)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Implementation</a:t>
            </a:r>
            <a:r>
              <a:rPr dirty="0" spc="145"/>
              <a:t> </a:t>
            </a:r>
            <a:r>
              <a:rPr dirty="0" spc="-10"/>
              <a:t>Approach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5612" y="1189037"/>
            <a:ext cx="3946525" cy="2755900"/>
            <a:chOff x="455612" y="1189037"/>
            <a:chExt cx="3946525" cy="2755900"/>
          </a:xfrm>
        </p:grpSpPr>
        <p:sp>
          <p:nvSpPr>
            <p:cNvPr id="4" name="object 4"/>
            <p:cNvSpPr/>
            <p:nvPr/>
          </p:nvSpPr>
          <p:spPr>
            <a:xfrm>
              <a:off x="533400" y="1195387"/>
              <a:ext cx="3862704" cy="2743200"/>
            </a:xfrm>
            <a:custGeom>
              <a:avLst/>
              <a:gdLst/>
              <a:ahLst/>
              <a:cxnLst/>
              <a:rect l="l" t="t" r="r" b="b"/>
              <a:pathLst>
                <a:path w="3862704" h="2743200">
                  <a:moveTo>
                    <a:pt x="0" y="2743200"/>
                  </a:moveTo>
                  <a:lnTo>
                    <a:pt x="3862387" y="2743200"/>
                  </a:lnTo>
                  <a:lnTo>
                    <a:pt x="3862387" y="0"/>
                  </a:lnTo>
                  <a:lnTo>
                    <a:pt x="0" y="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61962" y="1195387"/>
              <a:ext cx="3933825" cy="2743200"/>
            </a:xfrm>
            <a:custGeom>
              <a:avLst/>
              <a:gdLst/>
              <a:ahLst/>
              <a:cxnLst/>
              <a:rect l="l" t="t" r="r" b="b"/>
              <a:pathLst>
                <a:path w="3933825" h="2743200">
                  <a:moveTo>
                    <a:pt x="0" y="2743200"/>
                  </a:moveTo>
                  <a:lnTo>
                    <a:pt x="3933825" y="2743200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2743200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190625"/>
              <a:ext cx="76200" cy="2743200"/>
            </a:xfrm>
            <a:custGeom>
              <a:avLst/>
              <a:gdLst/>
              <a:ahLst/>
              <a:cxnLst/>
              <a:rect l="l" t="t" r="r" b="b"/>
              <a:pathLst>
                <a:path w="76200" h="2743200">
                  <a:moveTo>
                    <a:pt x="76200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76200" y="2743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3400" y="1206992"/>
            <a:ext cx="3856354" cy="2228215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145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Safety</a:t>
            </a:r>
            <a:r>
              <a:rPr dirty="0" sz="1700" spc="-10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Algorithm</a:t>
            </a:r>
            <a:r>
              <a:rPr dirty="0" sz="1700" spc="37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is_safe()</a:t>
            </a:r>
            <a:endParaRPr sz="1700">
              <a:latin typeface="Times New Roman"/>
              <a:cs typeface="Times New Roman"/>
            </a:endParaRPr>
          </a:p>
          <a:p>
            <a:pPr marL="351790" indent="-199390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351790" algn="l"/>
              </a:tabLst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Work</a:t>
            </a:r>
            <a:r>
              <a:rPr dirty="0" sz="1550" spc="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=</a:t>
            </a:r>
            <a:r>
              <a:rPr dirty="0" sz="1550" spc="-7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Available,</a:t>
            </a:r>
            <a:r>
              <a:rPr dirty="0" sz="1550" spc="6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Finish</a:t>
            </a:r>
            <a:r>
              <a:rPr dirty="0" sz="1550" spc="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=</a:t>
            </a:r>
            <a:r>
              <a:rPr dirty="0" sz="1550" spc="9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all</a:t>
            </a:r>
            <a:r>
              <a:rPr dirty="0" sz="1550" spc="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495368"/>
                </a:solidFill>
                <a:latin typeface="Times New Roman"/>
                <a:cs typeface="Times New Roman"/>
              </a:rPr>
              <a:t>false</a:t>
            </a:r>
            <a:endParaRPr sz="1550">
              <a:latin typeface="Times New Roman"/>
              <a:cs typeface="Times New Roman"/>
            </a:endParaRPr>
          </a:p>
          <a:p>
            <a:pPr marL="351790" indent="-19939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1790" algn="l"/>
              </a:tabLst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Find</a:t>
            </a:r>
            <a:r>
              <a:rPr dirty="0" sz="1550" spc="9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</a:t>
            </a:r>
            <a:r>
              <a:rPr dirty="0" sz="1550" spc="114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process</a:t>
            </a:r>
            <a:r>
              <a:rPr dirty="0" sz="1550" spc="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with</a:t>
            </a:r>
            <a:r>
              <a:rPr dirty="0" sz="1550" spc="9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Need</a:t>
            </a:r>
            <a:r>
              <a:rPr dirty="0" sz="1550" spc="10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&lt;=</a:t>
            </a:r>
            <a:r>
              <a:rPr dirty="0" sz="1550" spc="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495368"/>
                </a:solidFill>
                <a:latin typeface="Times New Roman"/>
                <a:cs typeface="Times New Roman"/>
              </a:rPr>
              <a:t>Work</a:t>
            </a:r>
            <a:endParaRPr sz="1550">
              <a:latin typeface="Times New Roman"/>
              <a:cs typeface="Times New Roman"/>
            </a:endParaRPr>
          </a:p>
          <a:p>
            <a:pPr marL="342265" indent="-18986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42265" algn="l"/>
              </a:tabLst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Assume</a:t>
            </a:r>
            <a:r>
              <a:rPr dirty="0" sz="1550" spc="9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it</a:t>
            </a:r>
            <a:r>
              <a:rPr dirty="0" sz="1550" spc="1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finishes:</a:t>
            </a:r>
            <a:r>
              <a:rPr dirty="0" sz="1550" spc="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Work</a:t>
            </a:r>
            <a:r>
              <a:rPr dirty="0" sz="1550" spc="8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+=</a:t>
            </a:r>
            <a:r>
              <a:rPr dirty="0" sz="1550" spc="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495368"/>
                </a:solidFill>
                <a:latin typeface="Times New Roman"/>
                <a:cs typeface="Times New Roman"/>
              </a:rPr>
              <a:t>its</a:t>
            </a:r>
            <a:endParaRPr sz="155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20"/>
              </a:spcBef>
            </a:pPr>
            <a:r>
              <a:rPr dirty="0" sz="1550" spc="-10">
                <a:solidFill>
                  <a:srgbClr val="495368"/>
                </a:solidFill>
                <a:latin typeface="Times New Roman"/>
                <a:cs typeface="Times New Roman"/>
              </a:rPr>
              <a:t>Allocation</a:t>
            </a:r>
            <a:endParaRPr sz="1550">
              <a:latin typeface="Times New Roman"/>
              <a:cs typeface="Times New Roman"/>
            </a:endParaRPr>
          </a:p>
          <a:p>
            <a:pPr marL="351790" indent="-199390">
              <a:lnSpc>
                <a:spcPct val="100000"/>
              </a:lnSpc>
              <a:spcBef>
                <a:spcPts val="695"/>
              </a:spcBef>
              <a:buAutoNum type="arabicPeriod" startAt="4"/>
              <a:tabLst>
                <a:tab pos="351790" algn="l"/>
              </a:tabLst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Repeat.</a:t>
            </a:r>
            <a:r>
              <a:rPr dirty="0" sz="1550" spc="-5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All</a:t>
            </a:r>
            <a:r>
              <a:rPr dirty="0" sz="1550" spc="1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finished</a:t>
            </a:r>
            <a:r>
              <a:rPr dirty="0" sz="1550" spc="10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=</a:t>
            </a:r>
            <a:r>
              <a:rPr dirty="0" sz="1550" spc="7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SAFE,</a:t>
            </a:r>
            <a:r>
              <a:rPr dirty="0" sz="1550" spc="1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495368"/>
                </a:solidFill>
                <a:latin typeface="Times New Roman"/>
                <a:cs typeface="Times New Roman"/>
              </a:rPr>
              <a:t>else</a:t>
            </a:r>
            <a:endParaRPr sz="155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20"/>
              </a:spcBef>
            </a:pPr>
            <a:r>
              <a:rPr dirty="0" sz="1550" spc="-10">
                <a:solidFill>
                  <a:srgbClr val="495368"/>
                </a:solidFill>
                <a:latin typeface="Times New Roman"/>
                <a:cs typeface="Times New Roman"/>
              </a:rPr>
              <a:t>UNSAFE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51451" y="1189037"/>
            <a:ext cx="3946525" cy="2755900"/>
            <a:chOff x="4751451" y="1189037"/>
            <a:chExt cx="3946525" cy="2755900"/>
          </a:xfrm>
        </p:grpSpPr>
        <p:sp>
          <p:nvSpPr>
            <p:cNvPr id="9" name="object 9"/>
            <p:cNvSpPr/>
            <p:nvPr/>
          </p:nvSpPr>
          <p:spPr>
            <a:xfrm>
              <a:off x="4829175" y="1195387"/>
              <a:ext cx="3862704" cy="2743200"/>
            </a:xfrm>
            <a:custGeom>
              <a:avLst/>
              <a:gdLst/>
              <a:ahLst/>
              <a:cxnLst/>
              <a:rect l="l" t="t" r="r" b="b"/>
              <a:pathLst>
                <a:path w="3862704" h="2743200">
                  <a:moveTo>
                    <a:pt x="0" y="2743200"/>
                  </a:moveTo>
                  <a:lnTo>
                    <a:pt x="3862451" y="2743200"/>
                  </a:lnTo>
                  <a:lnTo>
                    <a:pt x="3862451" y="0"/>
                  </a:lnTo>
                  <a:lnTo>
                    <a:pt x="0" y="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757801" y="1195387"/>
              <a:ext cx="3933825" cy="2743200"/>
            </a:xfrm>
            <a:custGeom>
              <a:avLst/>
              <a:gdLst/>
              <a:ahLst/>
              <a:cxnLst/>
              <a:rect l="l" t="t" r="r" b="b"/>
              <a:pathLst>
                <a:path w="3933825" h="2743200">
                  <a:moveTo>
                    <a:pt x="0" y="2743200"/>
                  </a:moveTo>
                  <a:lnTo>
                    <a:pt x="3933825" y="2743200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2743200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52975" y="1190625"/>
              <a:ext cx="76200" cy="2743200"/>
            </a:xfrm>
            <a:custGeom>
              <a:avLst/>
              <a:gdLst/>
              <a:ahLst/>
              <a:cxnLst/>
              <a:rect l="l" t="t" r="r" b="b"/>
              <a:pathLst>
                <a:path w="76200" h="2743200">
                  <a:moveTo>
                    <a:pt x="76200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76200" y="2743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829175" y="1187036"/>
            <a:ext cx="3856354" cy="1761489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1230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Request</a:t>
            </a:r>
            <a:r>
              <a:rPr dirty="0" sz="1700" spc="-17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Algorithm</a:t>
            </a:r>
            <a:r>
              <a:rPr dirty="0" sz="1700" spc="40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request()</a:t>
            </a:r>
            <a:endParaRPr sz="1700">
              <a:latin typeface="Times New Roman"/>
              <a:cs typeface="Times New Roman"/>
            </a:endParaRPr>
          </a:p>
          <a:p>
            <a:pPr marL="358775" indent="-199390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58775" algn="l"/>
              </a:tabLst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Request</a:t>
            </a:r>
            <a:r>
              <a:rPr dirty="0" sz="1550" spc="1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&gt;</a:t>
            </a:r>
            <a:r>
              <a:rPr dirty="0" sz="1550" spc="9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Need?</a:t>
            </a:r>
            <a:r>
              <a:rPr dirty="0" sz="1550" spc="1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Error:</a:t>
            </a:r>
            <a:r>
              <a:rPr dirty="0" sz="1550" spc="9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exceeds</a:t>
            </a:r>
            <a:r>
              <a:rPr dirty="0" sz="1550" spc="7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495368"/>
                </a:solidFill>
                <a:latin typeface="Times New Roman"/>
                <a:cs typeface="Times New Roman"/>
              </a:rPr>
              <a:t>claim</a:t>
            </a:r>
            <a:endParaRPr sz="1550">
              <a:latin typeface="Times New Roman"/>
              <a:cs typeface="Times New Roman"/>
            </a:endParaRPr>
          </a:p>
          <a:p>
            <a:pPr marL="358775" indent="-19939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8775" algn="l"/>
              </a:tabLst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Request</a:t>
            </a:r>
            <a:r>
              <a:rPr dirty="0" sz="1550" spc="1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&gt;</a:t>
            </a:r>
            <a:r>
              <a:rPr dirty="0" sz="155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Available?</a:t>
            </a:r>
            <a:r>
              <a:rPr dirty="0" sz="1550" spc="1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Process</a:t>
            </a:r>
            <a:r>
              <a:rPr dirty="0" sz="1550" spc="1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495368"/>
                </a:solidFill>
                <a:latin typeface="Times New Roman"/>
                <a:cs typeface="Times New Roman"/>
              </a:rPr>
              <a:t>waits</a:t>
            </a:r>
            <a:endParaRPr sz="1550">
              <a:latin typeface="Times New Roman"/>
              <a:cs typeface="Times New Roman"/>
            </a:endParaRPr>
          </a:p>
          <a:p>
            <a:pPr marL="358775" indent="-19939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58775" algn="l"/>
              </a:tabLst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Pretend</a:t>
            </a:r>
            <a:r>
              <a:rPr dirty="0" sz="1550" spc="114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to</a:t>
            </a:r>
            <a:r>
              <a:rPr dirty="0" sz="1550" spc="114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allocate</a:t>
            </a:r>
            <a:r>
              <a:rPr dirty="0" sz="1550" spc="1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the</a:t>
            </a:r>
            <a:r>
              <a:rPr dirty="0" sz="1550" spc="1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495368"/>
                </a:solidFill>
                <a:latin typeface="Times New Roman"/>
                <a:cs typeface="Times New Roman"/>
              </a:rPr>
              <a:t>resources</a:t>
            </a:r>
            <a:endParaRPr sz="1550">
              <a:latin typeface="Times New Roman"/>
              <a:cs typeface="Times New Roman"/>
            </a:endParaRPr>
          </a:p>
          <a:p>
            <a:pPr marL="358775" indent="-19939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8775" algn="l"/>
              </a:tabLst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Safe?</a:t>
            </a:r>
            <a:r>
              <a:rPr dirty="0" sz="1550" spc="16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Commit.</a:t>
            </a:r>
            <a:r>
              <a:rPr dirty="0" sz="1550" spc="17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Unsafe?</a:t>
            </a:r>
            <a:r>
              <a:rPr dirty="0" sz="1550" spc="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Roll</a:t>
            </a:r>
            <a:r>
              <a:rPr dirty="0" sz="1550" spc="2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495368"/>
                </a:solidFill>
                <a:latin typeface="Times New Roman"/>
                <a:cs typeface="Times New Roman"/>
              </a:rPr>
              <a:t>back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5134" y="4268152"/>
            <a:ext cx="453390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solidFill>
                  <a:srgbClr val="1E2A49"/>
                </a:solidFill>
                <a:latin typeface="Times New Roman"/>
                <a:cs typeface="Times New Roman"/>
              </a:rPr>
              <a:t>Key</a:t>
            </a:r>
            <a:r>
              <a:rPr dirty="0" sz="1400" spc="-3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1E2A49"/>
                </a:solidFill>
                <a:latin typeface="Times New Roman"/>
                <a:cs typeface="Times New Roman"/>
              </a:rPr>
              <a:t>idea:</a:t>
            </a:r>
            <a:r>
              <a:rPr dirty="0" sz="1400" spc="-1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a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state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is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safe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if</a:t>
            </a:r>
            <a:r>
              <a:rPr dirty="0" sz="14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some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order</a:t>
            </a:r>
            <a:r>
              <a:rPr dirty="0" sz="14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lets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every</a:t>
            </a:r>
            <a:r>
              <a:rPr dirty="0" sz="14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95368"/>
                </a:solidFill>
                <a:latin typeface="Times New Roman"/>
                <a:cs typeface="Times New Roman"/>
              </a:rPr>
              <a:t>process</a:t>
            </a:r>
            <a:r>
              <a:rPr dirty="0" sz="14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495368"/>
                </a:solidFill>
                <a:latin typeface="Times New Roman"/>
                <a:cs typeface="Times New Roman"/>
              </a:rPr>
              <a:t>finish.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Technologies</a:t>
            </a:r>
            <a:r>
              <a:rPr dirty="0" spc="-110"/>
              <a:t> </a:t>
            </a:r>
            <a:r>
              <a:rPr dirty="0" spc="-20"/>
              <a:t>Used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5612" y="1189100"/>
            <a:ext cx="2574925" cy="1565275"/>
            <a:chOff x="455612" y="1189100"/>
            <a:chExt cx="2574925" cy="1565275"/>
          </a:xfrm>
        </p:grpSpPr>
        <p:sp>
          <p:nvSpPr>
            <p:cNvPr id="4" name="object 4"/>
            <p:cNvSpPr/>
            <p:nvPr/>
          </p:nvSpPr>
          <p:spPr>
            <a:xfrm>
              <a:off x="533400" y="1195450"/>
              <a:ext cx="2491105" cy="1552575"/>
            </a:xfrm>
            <a:custGeom>
              <a:avLst/>
              <a:gdLst/>
              <a:ahLst/>
              <a:cxnLst/>
              <a:rect l="l" t="t" r="r" b="b"/>
              <a:pathLst>
                <a:path w="2491105" h="1552575">
                  <a:moveTo>
                    <a:pt x="0" y="1552575"/>
                  </a:moveTo>
                  <a:lnTo>
                    <a:pt x="2490787" y="1552575"/>
                  </a:lnTo>
                  <a:lnTo>
                    <a:pt x="2490787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61962" y="1195450"/>
              <a:ext cx="2562225" cy="1552575"/>
            </a:xfrm>
            <a:custGeom>
              <a:avLst/>
              <a:gdLst/>
              <a:ahLst/>
              <a:cxnLst/>
              <a:rect l="l" t="t" r="r" b="b"/>
              <a:pathLst>
                <a:path w="2562225" h="1552575">
                  <a:moveTo>
                    <a:pt x="0" y="1552575"/>
                  </a:moveTo>
                  <a:lnTo>
                    <a:pt x="2562225" y="1552575"/>
                  </a:lnTo>
                  <a:lnTo>
                    <a:pt x="2562225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190624"/>
              <a:ext cx="76200" cy="1552575"/>
            </a:xfrm>
            <a:custGeom>
              <a:avLst/>
              <a:gdLst/>
              <a:ahLst/>
              <a:cxnLst/>
              <a:rect l="l" t="t" r="r" b="b"/>
              <a:pathLst>
                <a:path w="76200" h="1552575">
                  <a:moveTo>
                    <a:pt x="76200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76200" y="15525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3400" y="1180045"/>
            <a:ext cx="2484755" cy="125095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285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Python</a:t>
            </a:r>
            <a:r>
              <a:rPr dirty="0" sz="1700" spc="-2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50" b="1">
                <a:solidFill>
                  <a:srgbClr val="1E2A49"/>
                </a:solidFill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  <a:p>
            <a:pPr marL="152400" marR="257175">
              <a:lnSpc>
                <a:spcPct val="100000"/>
              </a:lnSpc>
              <a:spcBef>
                <a:spcPts val="1015"/>
              </a:spcBef>
            </a:pP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Simple,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readable,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ideal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for</a:t>
            </a:r>
            <a:r>
              <a:rPr dirty="0" sz="1500" spc="-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algorithm</a:t>
            </a:r>
            <a:r>
              <a:rPr dirty="0" sz="1500" spc="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logic.</a:t>
            </a:r>
            <a:endParaRPr sz="15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Standard</a:t>
            </a:r>
            <a:r>
              <a:rPr dirty="0" sz="15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library</a:t>
            </a:r>
            <a:r>
              <a:rPr dirty="0" sz="15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only.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94126" y="1189100"/>
            <a:ext cx="2565400" cy="1565275"/>
            <a:chOff x="3294126" y="1189100"/>
            <a:chExt cx="2565400" cy="1565275"/>
          </a:xfrm>
        </p:grpSpPr>
        <p:sp>
          <p:nvSpPr>
            <p:cNvPr id="9" name="object 9"/>
            <p:cNvSpPr/>
            <p:nvPr/>
          </p:nvSpPr>
          <p:spPr>
            <a:xfrm>
              <a:off x="3362325" y="1195450"/>
              <a:ext cx="2491105" cy="1552575"/>
            </a:xfrm>
            <a:custGeom>
              <a:avLst/>
              <a:gdLst/>
              <a:ahLst/>
              <a:cxnLst/>
              <a:rect l="l" t="t" r="r" b="b"/>
              <a:pathLst>
                <a:path w="2491104" h="1552575">
                  <a:moveTo>
                    <a:pt x="0" y="1552575"/>
                  </a:moveTo>
                  <a:lnTo>
                    <a:pt x="2490851" y="1552575"/>
                  </a:lnTo>
                  <a:lnTo>
                    <a:pt x="2490851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00476" y="1195450"/>
              <a:ext cx="2552700" cy="1552575"/>
            </a:xfrm>
            <a:custGeom>
              <a:avLst/>
              <a:gdLst/>
              <a:ahLst/>
              <a:cxnLst/>
              <a:rect l="l" t="t" r="r" b="b"/>
              <a:pathLst>
                <a:path w="2552700" h="1552575">
                  <a:moveTo>
                    <a:pt x="0" y="1552575"/>
                  </a:moveTo>
                  <a:lnTo>
                    <a:pt x="2552700" y="1552575"/>
                  </a:lnTo>
                  <a:lnTo>
                    <a:pt x="2552700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95650" y="1190624"/>
              <a:ext cx="66675" cy="1552575"/>
            </a:xfrm>
            <a:custGeom>
              <a:avLst/>
              <a:gdLst/>
              <a:ahLst/>
              <a:cxnLst/>
              <a:rect l="l" t="t" r="r" b="b"/>
              <a:pathLst>
                <a:path w="66675" h="1552575">
                  <a:moveTo>
                    <a:pt x="66675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66675" y="15525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362325" y="1180045"/>
            <a:ext cx="2484755" cy="125095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1285"/>
              </a:spcBef>
            </a:pPr>
            <a:r>
              <a:rPr dirty="0" sz="1700" spc="-20" b="1">
                <a:solidFill>
                  <a:srgbClr val="1E2A49"/>
                </a:solidFill>
                <a:latin typeface="Times New Roman"/>
                <a:cs typeface="Times New Roman"/>
              </a:rPr>
              <a:t>JSON</a:t>
            </a:r>
            <a:endParaRPr sz="1700">
              <a:latin typeface="Times New Roman"/>
              <a:cs typeface="Times New Roman"/>
            </a:endParaRPr>
          </a:p>
          <a:p>
            <a:pPr marL="161925" marR="402590">
              <a:lnSpc>
                <a:spcPct val="100000"/>
              </a:lnSpc>
              <a:spcBef>
                <a:spcPts val="1015"/>
              </a:spcBef>
            </a:pP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Easy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input</a:t>
            </a:r>
            <a:r>
              <a:rPr dirty="0" sz="1500" spc="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format</a:t>
            </a:r>
            <a:r>
              <a:rPr dirty="0" sz="1500" spc="-5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for</a:t>
            </a:r>
            <a:r>
              <a:rPr dirty="0" sz="1500" spc="-6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the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Max,</a:t>
            </a:r>
            <a:r>
              <a:rPr dirty="0" sz="1500" spc="-9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Allocation</a:t>
            </a:r>
            <a:r>
              <a:rPr dirty="0" sz="15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and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Available</a:t>
            </a:r>
            <a:r>
              <a:rPr dirty="0" sz="1500" spc="-7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data.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23051" y="1189100"/>
            <a:ext cx="2574925" cy="1565275"/>
            <a:chOff x="6123051" y="1189100"/>
            <a:chExt cx="2574925" cy="1565275"/>
          </a:xfrm>
        </p:grpSpPr>
        <p:sp>
          <p:nvSpPr>
            <p:cNvPr id="14" name="object 14"/>
            <p:cNvSpPr/>
            <p:nvPr/>
          </p:nvSpPr>
          <p:spPr>
            <a:xfrm>
              <a:off x="6200775" y="1195450"/>
              <a:ext cx="2491105" cy="1552575"/>
            </a:xfrm>
            <a:custGeom>
              <a:avLst/>
              <a:gdLst/>
              <a:ahLst/>
              <a:cxnLst/>
              <a:rect l="l" t="t" r="r" b="b"/>
              <a:pathLst>
                <a:path w="2491104" h="1552575">
                  <a:moveTo>
                    <a:pt x="0" y="1552575"/>
                  </a:moveTo>
                  <a:lnTo>
                    <a:pt x="2490851" y="1552575"/>
                  </a:lnTo>
                  <a:lnTo>
                    <a:pt x="2490851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29401" y="1195450"/>
              <a:ext cx="2562225" cy="1552575"/>
            </a:xfrm>
            <a:custGeom>
              <a:avLst/>
              <a:gdLst/>
              <a:ahLst/>
              <a:cxnLst/>
              <a:rect l="l" t="t" r="r" b="b"/>
              <a:pathLst>
                <a:path w="2562225" h="1552575">
                  <a:moveTo>
                    <a:pt x="0" y="1552575"/>
                  </a:moveTo>
                  <a:lnTo>
                    <a:pt x="2562225" y="1552575"/>
                  </a:lnTo>
                  <a:lnTo>
                    <a:pt x="2562225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24575" y="1190624"/>
              <a:ext cx="76200" cy="1552575"/>
            </a:xfrm>
            <a:custGeom>
              <a:avLst/>
              <a:gdLst/>
              <a:ahLst/>
              <a:cxnLst/>
              <a:rect l="l" t="t" r="r" b="b"/>
              <a:pathLst>
                <a:path w="76200" h="1552575">
                  <a:moveTo>
                    <a:pt x="76200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76200" y="15525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200775" y="1180045"/>
            <a:ext cx="2484755" cy="102235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1285"/>
              </a:spcBef>
            </a:pP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unittest</a:t>
            </a:r>
            <a:endParaRPr sz="1700">
              <a:latin typeface="Times New Roman"/>
              <a:cs typeface="Times New Roman"/>
            </a:endParaRPr>
          </a:p>
          <a:p>
            <a:pPr marL="160655" marR="238760">
              <a:lnSpc>
                <a:spcPct val="100000"/>
              </a:lnSpc>
              <a:spcBef>
                <a:spcPts val="1015"/>
              </a:spcBef>
            </a:pP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Built-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in</a:t>
            </a:r>
            <a:r>
              <a:rPr dirty="0" sz="1500" spc="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testing</a:t>
            </a:r>
            <a:r>
              <a:rPr dirty="0" sz="1500" spc="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framework: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9</a:t>
            </a:r>
            <a:r>
              <a:rPr dirty="0" sz="1500" spc="-3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automated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test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cases.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5612" y="2922587"/>
            <a:ext cx="2574925" cy="1565275"/>
            <a:chOff x="455612" y="2922587"/>
            <a:chExt cx="2574925" cy="1565275"/>
          </a:xfrm>
        </p:grpSpPr>
        <p:sp>
          <p:nvSpPr>
            <p:cNvPr id="19" name="object 19"/>
            <p:cNvSpPr/>
            <p:nvPr/>
          </p:nvSpPr>
          <p:spPr>
            <a:xfrm>
              <a:off x="533400" y="2928937"/>
              <a:ext cx="2491105" cy="1552575"/>
            </a:xfrm>
            <a:custGeom>
              <a:avLst/>
              <a:gdLst/>
              <a:ahLst/>
              <a:cxnLst/>
              <a:rect l="l" t="t" r="r" b="b"/>
              <a:pathLst>
                <a:path w="2491105" h="1552575">
                  <a:moveTo>
                    <a:pt x="0" y="1552575"/>
                  </a:moveTo>
                  <a:lnTo>
                    <a:pt x="2490787" y="1552575"/>
                  </a:lnTo>
                  <a:lnTo>
                    <a:pt x="2490787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1962" y="2928937"/>
              <a:ext cx="2562225" cy="1552575"/>
            </a:xfrm>
            <a:custGeom>
              <a:avLst/>
              <a:gdLst/>
              <a:ahLst/>
              <a:cxnLst/>
              <a:rect l="l" t="t" r="r" b="b"/>
              <a:pathLst>
                <a:path w="2562225" h="1552575">
                  <a:moveTo>
                    <a:pt x="0" y="1552575"/>
                  </a:moveTo>
                  <a:lnTo>
                    <a:pt x="2562225" y="1552575"/>
                  </a:lnTo>
                  <a:lnTo>
                    <a:pt x="2562225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7200" y="2924175"/>
              <a:ext cx="76200" cy="1552575"/>
            </a:xfrm>
            <a:custGeom>
              <a:avLst/>
              <a:gdLst/>
              <a:ahLst/>
              <a:cxnLst/>
              <a:rect l="l" t="t" r="r" b="b"/>
              <a:pathLst>
                <a:path w="76200" h="1552575">
                  <a:moveTo>
                    <a:pt x="76200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76200" y="15525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33400" y="2920587"/>
            <a:ext cx="2484755" cy="102235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285"/>
              </a:spcBef>
            </a:pP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Command-</a:t>
            </a: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Line</a:t>
            </a:r>
            <a:r>
              <a:rPr dirty="0" sz="1700" spc="3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35" b="1">
                <a:solidFill>
                  <a:srgbClr val="1E2A49"/>
                </a:solidFill>
                <a:latin typeface="Times New Roman"/>
                <a:cs typeface="Times New Roman"/>
              </a:rPr>
              <a:t>UI</a:t>
            </a:r>
            <a:endParaRPr sz="17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1015"/>
              </a:spcBef>
            </a:pP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Menu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to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request</a:t>
            </a:r>
            <a:r>
              <a:rPr dirty="0" sz="1500" spc="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resources,</a:t>
            </a:r>
            <a:endParaRPr sz="15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view</a:t>
            </a:r>
            <a:r>
              <a:rPr dirty="0" sz="1500" spc="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state</a:t>
            </a:r>
            <a:r>
              <a:rPr dirty="0" sz="1500" spc="-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500" spc="-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check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safety.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94126" y="2922587"/>
            <a:ext cx="2565400" cy="1565275"/>
            <a:chOff x="3294126" y="2922587"/>
            <a:chExt cx="2565400" cy="1565275"/>
          </a:xfrm>
        </p:grpSpPr>
        <p:sp>
          <p:nvSpPr>
            <p:cNvPr id="24" name="object 24"/>
            <p:cNvSpPr/>
            <p:nvPr/>
          </p:nvSpPr>
          <p:spPr>
            <a:xfrm>
              <a:off x="3362325" y="2928937"/>
              <a:ext cx="2491105" cy="1552575"/>
            </a:xfrm>
            <a:custGeom>
              <a:avLst/>
              <a:gdLst/>
              <a:ahLst/>
              <a:cxnLst/>
              <a:rect l="l" t="t" r="r" b="b"/>
              <a:pathLst>
                <a:path w="2491104" h="1552575">
                  <a:moveTo>
                    <a:pt x="0" y="1552575"/>
                  </a:moveTo>
                  <a:lnTo>
                    <a:pt x="2490851" y="1552575"/>
                  </a:lnTo>
                  <a:lnTo>
                    <a:pt x="2490851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300476" y="2928937"/>
              <a:ext cx="2552700" cy="1552575"/>
            </a:xfrm>
            <a:custGeom>
              <a:avLst/>
              <a:gdLst/>
              <a:ahLst/>
              <a:cxnLst/>
              <a:rect l="l" t="t" r="r" b="b"/>
              <a:pathLst>
                <a:path w="2552700" h="1552575">
                  <a:moveTo>
                    <a:pt x="0" y="1552575"/>
                  </a:moveTo>
                  <a:lnTo>
                    <a:pt x="2552700" y="1552575"/>
                  </a:lnTo>
                  <a:lnTo>
                    <a:pt x="2552700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295650" y="2924175"/>
              <a:ext cx="66675" cy="1552575"/>
            </a:xfrm>
            <a:custGeom>
              <a:avLst/>
              <a:gdLst/>
              <a:ahLst/>
              <a:cxnLst/>
              <a:rect l="l" t="t" r="r" b="b"/>
              <a:pathLst>
                <a:path w="66675" h="1552575">
                  <a:moveTo>
                    <a:pt x="66675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66675" y="15525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362325" y="2920587"/>
            <a:ext cx="2484755" cy="125095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1285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Git</a:t>
            </a:r>
            <a:r>
              <a:rPr dirty="0" sz="1700" spc="-3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and</a:t>
            </a:r>
            <a:r>
              <a:rPr dirty="0" sz="1700" spc="2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GitHub</a:t>
            </a:r>
            <a:endParaRPr sz="1700">
              <a:latin typeface="Times New Roman"/>
              <a:cs typeface="Times New Roman"/>
            </a:endParaRPr>
          </a:p>
          <a:p>
            <a:pPr marL="161925" marR="175895">
              <a:lnSpc>
                <a:spcPct val="100000"/>
              </a:lnSpc>
              <a:spcBef>
                <a:spcPts val="1015"/>
              </a:spcBef>
            </a:pP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Version</a:t>
            </a:r>
            <a:r>
              <a:rPr dirty="0" sz="1500" spc="-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control</a:t>
            </a:r>
            <a:r>
              <a:rPr dirty="0" sz="1500" spc="-2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with</a:t>
            </a:r>
            <a:r>
              <a:rPr dirty="0" sz="15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regular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commits</a:t>
            </a:r>
            <a:r>
              <a:rPr dirty="0" sz="1500" spc="-1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495368"/>
                </a:solidFill>
                <a:latin typeface="Times New Roman"/>
                <a:cs typeface="Times New Roman"/>
              </a:rPr>
              <a:t>and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documentation.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23051" y="2922587"/>
            <a:ext cx="2574925" cy="1565275"/>
            <a:chOff x="6123051" y="2922587"/>
            <a:chExt cx="2574925" cy="1565275"/>
          </a:xfrm>
        </p:grpSpPr>
        <p:sp>
          <p:nvSpPr>
            <p:cNvPr id="29" name="object 29"/>
            <p:cNvSpPr/>
            <p:nvPr/>
          </p:nvSpPr>
          <p:spPr>
            <a:xfrm>
              <a:off x="6200775" y="2928937"/>
              <a:ext cx="2491105" cy="1552575"/>
            </a:xfrm>
            <a:custGeom>
              <a:avLst/>
              <a:gdLst/>
              <a:ahLst/>
              <a:cxnLst/>
              <a:rect l="l" t="t" r="r" b="b"/>
              <a:pathLst>
                <a:path w="2491104" h="1552575">
                  <a:moveTo>
                    <a:pt x="0" y="1552575"/>
                  </a:moveTo>
                  <a:lnTo>
                    <a:pt x="2490851" y="1552575"/>
                  </a:lnTo>
                  <a:lnTo>
                    <a:pt x="2490851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129401" y="2928937"/>
              <a:ext cx="2562225" cy="1552575"/>
            </a:xfrm>
            <a:custGeom>
              <a:avLst/>
              <a:gdLst/>
              <a:ahLst/>
              <a:cxnLst/>
              <a:rect l="l" t="t" r="r" b="b"/>
              <a:pathLst>
                <a:path w="2562225" h="1552575">
                  <a:moveTo>
                    <a:pt x="0" y="1552575"/>
                  </a:moveTo>
                  <a:lnTo>
                    <a:pt x="2562225" y="1552575"/>
                  </a:lnTo>
                  <a:lnTo>
                    <a:pt x="2562225" y="0"/>
                  </a:lnTo>
                  <a:lnTo>
                    <a:pt x="0" y="0"/>
                  </a:lnTo>
                  <a:lnTo>
                    <a:pt x="0" y="155257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124575" y="2924175"/>
              <a:ext cx="76200" cy="1552575"/>
            </a:xfrm>
            <a:custGeom>
              <a:avLst/>
              <a:gdLst/>
              <a:ahLst/>
              <a:cxnLst/>
              <a:rect l="l" t="t" r="r" b="b"/>
              <a:pathLst>
                <a:path w="76200" h="1552575">
                  <a:moveTo>
                    <a:pt x="76200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76200" y="15525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6200775" y="2920587"/>
            <a:ext cx="2484755" cy="102235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1285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VS </a:t>
            </a:r>
            <a:r>
              <a:rPr dirty="0" sz="1700" spc="-20" b="1">
                <a:solidFill>
                  <a:srgbClr val="1E2A49"/>
                </a:solidFill>
                <a:latin typeface="Times New Roman"/>
                <a:cs typeface="Times New Roman"/>
              </a:rPr>
              <a:t>Code</a:t>
            </a:r>
            <a:endParaRPr sz="1700">
              <a:latin typeface="Times New Roman"/>
              <a:cs typeface="Times New Roman"/>
            </a:endParaRPr>
          </a:p>
          <a:p>
            <a:pPr marL="160655">
              <a:lnSpc>
                <a:spcPct val="100000"/>
              </a:lnSpc>
              <a:spcBef>
                <a:spcPts val="1015"/>
              </a:spcBef>
            </a:pP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Development</a:t>
            </a:r>
            <a:r>
              <a:rPr dirty="0" sz="1500" spc="-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environment</a:t>
            </a:r>
            <a:endParaRPr sz="1500">
              <a:latin typeface="Times New Roman"/>
              <a:cs typeface="Times New Roman"/>
            </a:endParaRPr>
          </a:p>
          <a:p>
            <a:pPr marL="16065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for</a:t>
            </a:r>
            <a:r>
              <a:rPr dirty="0" sz="1500" spc="-5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writing</a:t>
            </a:r>
            <a:r>
              <a:rPr dirty="0" sz="1500" spc="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500" spc="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495368"/>
                </a:solidFill>
                <a:latin typeface="Times New Roman"/>
                <a:cs typeface="Times New Roman"/>
              </a:rPr>
              <a:t>debugging.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Demo</a:t>
            </a:r>
            <a:r>
              <a:rPr dirty="0" spc="90"/>
              <a:t> </a:t>
            </a:r>
            <a:r>
              <a:rPr dirty="0"/>
              <a:t>and</a:t>
            </a:r>
            <a:r>
              <a:rPr dirty="0" spc="80"/>
              <a:t> </a:t>
            </a:r>
            <a:r>
              <a:rPr dirty="0" spc="-10"/>
              <a:t>Output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228089"/>
          <a:ext cx="3929379" cy="23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/>
                <a:gridCol w="1005839"/>
                <a:gridCol w="1097280"/>
                <a:gridCol w="1097279"/>
              </a:tblGrid>
              <a:tr h="3835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Proc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1E2A4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Alloc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1E2A4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Max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1E2A4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Need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1E2A49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P4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50" spc="3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5134" y="3726179"/>
            <a:ext cx="278193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Available</a:t>
            </a:r>
            <a:r>
              <a:rPr dirty="0" sz="1250" spc="3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=</a:t>
            </a:r>
            <a:r>
              <a:rPr dirty="0" sz="1250" spc="11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[3,</a:t>
            </a:r>
            <a:r>
              <a:rPr dirty="0" sz="1250" spc="7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3,</a:t>
            </a:r>
            <a:r>
              <a:rPr dirty="0" sz="1250" spc="6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2]</a:t>
            </a:r>
            <a:r>
              <a:rPr dirty="0" sz="1250" spc="35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(resources</a:t>
            </a:r>
            <a:r>
              <a:rPr dirty="0" sz="1250" spc="-4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A,</a:t>
            </a:r>
            <a:r>
              <a:rPr dirty="0" sz="1250" spc="65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E2A49"/>
                </a:solidFill>
                <a:latin typeface="Times New Roman"/>
                <a:cs typeface="Times New Roman"/>
              </a:rPr>
              <a:t>B,</a:t>
            </a:r>
            <a:r>
              <a:rPr dirty="0" sz="1250" spc="7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250" spc="-25" b="1">
                <a:solidFill>
                  <a:srgbClr val="1E2A49"/>
                </a:solidFill>
                <a:latin typeface="Times New Roman"/>
                <a:cs typeface="Times New Roman"/>
              </a:rPr>
              <a:t>C)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134" y="4092575"/>
            <a:ext cx="134175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0E9D6D"/>
                </a:solidFill>
                <a:latin typeface="Times New Roman"/>
                <a:cs typeface="Times New Roman"/>
              </a:rPr>
              <a:t>Initial</a:t>
            </a:r>
            <a:r>
              <a:rPr dirty="0" sz="1250" spc="75" b="1">
                <a:solidFill>
                  <a:srgbClr val="0E9D6D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0E9D6D"/>
                </a:solidFill>
                <a:latin typeface="Times New Roman"/>
                <a:cs typeface="Times New Roman"/>
              </a:rPr>
              <a:t>state:</a:t>
            </a:r>
            <a:r>
              <a:rPr dirty="0" sz="1250" spc="165" b="1">
                <a:solidFill>
                  <a:srgbClr val="0E9D6D"/>
                </a:solidFill>
                <a:latin typeface="Times New Roman"/>
                <a:cs typeface="Times New Roman"/>
              </a:rPr>
              <a:t> </a:t>
            </a:r>
            <a:r>
              <a:rPr dirty="0" sz="1250" spc="-20" b="1">
                <a:solidFill>
                  <a:srgbClr val="0E9D6D"/>
                </a:solidFill>
                <a:latin typeface="Times New Roman"/>
                <a:cs typeface="Times New Roman"/>
              </a:rPr>
              <a:t>SAFE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0" y="1238250"/>
            <a:ext cx="4114800" cy="3333750"/>
          </a:xfrm>
          <a:prstGeom prst="rect">
            <a:avLst/>
          </a:prstGeom>
          <a:solidFill>
            <a:srgbClr val="12172B"/>
          </a:solidFill>
        </p:spPr>
        <p:txBody>
          <a:bodyPr wrap="square" lIns="0" tIns="126364" rIns="0" bIns="0" rtlCol="0" vert="horz">
            <a:spAutoFit/>
          </a:bodyPr>
          <a:lstStyle/>
          <a:p>
            <a:pPr marL="358775" indent="-170815">
              <a:lnSpc>
                <a:spcPts val="1435"/>
              </a:lnSpc>
              <a:spcBef>
                <a:spcPts val="994"/>
              </a:spcBef>
              <a:buChar char="&gt;"/>
              <a:tabLst>
                <a:tab pos="358775" algn="l"/>
              </a:tabLst>
            </a:pP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Initial</a:t>
            </a:r>
            <a:r>
              <a:rPr dirty="0" sz="1200" spc="-80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state:</a:t>
            </a:r>
            <a:r>
              <a:rPr dirty="0" sz="1200" spc="-75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7DE1D3"/>
                </a:solidFill>
                <a:latin typeface="Consolas"/>
                <a:cs typeface="Consolas"/>
              </a:rPr>
              <a:t>SAFE</a:t>
            </a:r>
            <a:endParaRPr sz="1200">
              <a:latin typeface="Consolas"/>
              <a:cs typeface="Consolas"/>
            </a:endParaRPr>
          </a:p>
          <a:p>
            <a:pPr marL="356235">
              <a:lnSpc>
                <a:spcPts val="1435"/>
              </a:lnSpc>
            </a:pPr>
            <a:r>
              <a:rPr dirty="0" sz="1200">
                <a:solidFill>
                  <a:srgbClr val="D7DEE9"/>
                </a:solidFill>
                <a:latin typeface="Consolas"/>
                <a:cs typeface="Consolas"/>
              </a:rPr>
              <a:t>Sequence:</a:t>
            </a:r>
            <a:r>
              <a:rPr dirty="0" sz="1200" spc="-60">
                <a:solidFill>
                  <a:srgbClr val="D7DEE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D7DEE9"/>
                </a:solidFill>
                <a:latin typeface="Consolas"/>
                <a:cs typeface="Consolas"/>
              </a:rPr>
              <a:t>P1</a:t>
            </a:r>
            <a:r>
              <a:rPr dirty="0" sz="1200" spc="30">
                <a:solidFill>
                  <a:srgbClr val="D7DEE9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D7DEE9"/>
                </a:solidFill>
                <a:latin typeface="Consolas"/>
                <a:cs typeface="Consolas"/>
              </a:rPr>
              <a:t>-</a:t>
            </a:r>
            <a:r>
              <a:rPr dirty="0" sz="1200">
                <a:solidFill>
                  <a:srgbClr val="D7DEE9"/>
                </a:solidFill>
                <a:latin typeface="Consolas"/>
                <a:cs typeface="Consolas"/>
              </a:rPr>
              <a:t>&gt;</a:t>
            </a:r>
            <a:r>
              <a:rPr dirty="0" sz="1200" spc="15">
                <a:solidFill>
                  <a:srgbClr val="D7DEE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D7DEE9"/>
                </a:solidFill>
                <a:latin typeface="Consolas"/>
                <a:cs typeface="Consolas"/>
              </a:rPr>
              <a:t>P3</a:t>
            </a:r>
            <a:r>
              <a:rPr dirty="0" sz="1200" spc="-40">
                <a:solidFill>
                  <a:srgbClr val="D7DEE9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D7DEE9"/>
                </a:solidFill>
                <a:latin typeface="Consolas"/>
                <a:cs typeface="Consolas"/>
              </a:rPr>
              <a:t>-</a:t>
            </a:r>
            <a:r>
              <a:rPr dirty="0" sz="1200">
                <a:solidFill>
                  <a:srgbClr val="D7DEE9"/>
                </a:solidFill>
                <a:latin typeface="Consolas"/>
                <a:cs typeface="Consolas"/>
              </a:rPr>
              <a:t>&gt;</a:t>
            </a:r>
            <a:r>
              <a:rPr dirty="0" sz="1200" spc="20">
                <a:solidFill>
                  <a:srgbClr val="D7DEE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D7DEE9"/>
                </a:solidFill>
                <a:latin typeface="Consolas"/>
                <a:cs typeface="Consolas"/>
              </a:rPr>
              <a:t>P4</a:t>
            </a:r>
            <a:r>
              <a:rPr dirty="0" sz="1200" spc="-40">
                <a:solidFill>
                  <a:srgbClr val="D7DEE9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D7DEE9"/>
                </a:solidFill>
                <a:latin typeface="Consolas"/>
                <a:cs typeface="Consolas"/>
              </a:rPr>
              <a:t>-</a:t>
            </a:r>
            <a:r>
              <a:rPr dirty="0" sz="1200">
                <a:solidFill>
                  <a:srgbClr val="D7DEE9"/>
                </a:solidFill>
                <a:latin typeface="Consolas"/>
                <a:cs typeface="Consolas"/>
              </a:rPr>
              <a:t>&gt;</a:t>
            </a:r>
            <a:r>
              <a:rPr dirty="0" sz="1200" spc="15">
                <a:solidFill>
                  <a:srgbClr val="D7DEE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D7DEE9"/>
                </a:solidFill>
                <a:latin typeface="Consolas"/>
                <a:cs typeface="Consolas"/>
              </a:rPr>
              <a:t>P0</a:t>
            </a:r>
            <a:r>
              <a:rPr dirty="0" sz="1200" spc="-35">
                <a:solidFill>
                  <a:srgbClr val="D7DEE9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D7DEE9"/>
                </a:solidFill>
                <a:latin typeface="Consolas"/>
                <a:cs typeface="Consolas"/>
              </a:rPr>
              <a:t>-</a:t>
            </a:r>
            <a:r>
              <a:rPr dirty="0" sz="1200">
                <a:solidFill>
                  <a:srgbClr val="D7DEE9"/>
                </a:solidFill>
                <a:latin typeface="Consolas"/>
                <a:cs typeface="Consolas"/>
              </a:rPr>
              <a:t>&gt;</a:t>
            </a:r>
            <a:r>
              <a:rPr dirty="0" sz="1200" spc="15">
                <a:solidFill>
                  <a:srgbClr val="D7DEE9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D7DEE9"/>
                </a:solidFill>
                <a:latin typeface="Consolas"/>
                <a:cs typeface="Consolas"/>
              </a:rPr>
              <a:t>P2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200">
              <a:latin typeface="Consolas"/>
              <a:cs typeface="Consolas"/>
            </a:endParaRPr>
          </a:p>
          <a:p>
            <a:pPr marL="356235" marR="1565910" indent="-168275">
              <a:lnSpc>
                <a:spcPts val="1430"/>
              </a:lnSpc>
              <a:buChar char="&gt;"/>
              <a:tabLst>
                <a:tab pos="356235" algn="l"/>
                <a:tab pos="358775" algn="l"/>
              </a:tabLst>
            </a:pP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	Request</a:t>
            </a:r>
            <a:r>
              <a:rPr dirty="0" sz="1200" spc="-70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P1</a:t>
            </a:r>
            <a:r>
              <a:rPr dirty="0" sz="1200" spc="5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[1</a:t>
            </a:r>
            <a:r>
              <a:rPr dirty="0" sz="1200" spc="-65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0</a:t>
            </a:r>
            <a:r>
              <a:rPr dirty="0" sz="1200" spc="5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7DE1D3"/>
                </a:solidFill>
                <a:latin typeface="Consolas"/>
                <a:cs typeface="Consolas"/>
              </a:rPr>
              <a:t>2] </a:t>
            </a:r>
            <a:r>
              <a:rPr dirty="0" sz="1200">
                <a:solidFill>
                  <a:srgbClr val="7CDC9A"/>
                </a:solidFill>
                <a:latin typeface="Consolas"/>
                <a:cs typeface="Consolas"/>
              </a:rPr>
              <a:t>GRANTED:</a:t>
            </a:r>
            <a:r>
              <a:rPr dirty="0" sz="1200" spc="-20">
                <a:solidFill>
                  <a:srgbClr val="7CDC9A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CDC9A"/>
                </a:solidFill>
                <a:latin typeface="Consolas"/>
                <a:cs typeface="Consolas"/>
              </a:rPr>
              <a:t>system</a:t>
            </a:r>
            <a:r>
              <a:rPr dirty="0" sz="1200" spc="-85">
                <a:solidFill>
                  <a:srgbClr val="7CDC9A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CDC9A"/>
                </a:solidFill>
                <a:latin typeface="Consolas"/>
                <a:cs typeface="Consolas"/>
              </a:rPr>
              <a:t>stays</a:t>
            </a:r>
            <a:r>
              <a:rPr dirty="0" sz="1200" spc="-90">
                <a:solidFill>
                  <a:srgbClr val="7CDC9A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7CDC9A"/>
                </a:solidFill>
                <a:latin typeface="Consolas"/>
                <a:cs typeface="Consolas"/>
              </a:rPr>
              <a:t>safe</a:t>
            </a:r>
            <a:endParaRPr sz="1200">
              <a:latin typeface="Consolas"/>
              <a:cs typeface="Consolas"/>
            </a:endParaRPr>
          </a:p>
          <a:p>
            <a:pPr marL="358775" indent="-170815">
              <a:lnSpc>
                <a:spcPts val="1435"/>
              </a:lnSpc>
              <a:spcBef>
                <a:spcPts val="1370"/>
              </a:spcBef>
              <a:buChar char="&gt;"/>
              <a:tabLst>
                <a:tab pos="358775" algn="l"/>
              </a:tabLst>
            </a:pP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Request</a:t>
            </a:r>
            <a:r>
              <a:rPr dirty="0" sz="1200" spc="-70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P4</a:t>
            </a:r>
            <a:r>
              <a:rPr dirty="0" sz="1200" spc="5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[3</a:t>
            </a:r>
            <a:r>
              <a:rPr dirty="0" sz="1200" spc="-65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3</a:t>
            </a:r>
            <a:r>
              <a:rPr dirty="0" sz="1200" spc="5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7DE1D3"/>
                </a:solidFill>
                <a:latin typeface="Consolas"/>
                <a:cs typeface="Consolas"/>
              </a:rPr>
              <a:t>0]</a:t>
            </a:r>
            <a:endParaRPr sz="1200">
              <a:latin typeface="Consolas"/>
              <a:cs typeface="Consolas"/>
            </a:endParaRPr>
          </a:p>
          <a:p>
            <a:pPr marL="356235">
              <a:lnSpc>
                <a:spcPts val="1435"/>
              </a:lnSpc>
            </a:pPr>
            <a:r>
              <a:rPr dirty="0" sz="1200">
                <a:solidFill>
                  <a:srgbClr val="FF8989"/>
                </a:solidFill>
                <a:latin typeface="Consolas"/>
                <a:cs typeface="Consolas"/>
              </a:rPr>
              <a:t>DENIED:</a:t>
            </a:r>
            <a:r>
              <a:rPr dirty="0" sz="1200" spc="-45">
                <a:solidFill>
                  <a:srgbClr val="FF898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FF8989"/>
                </a:solidFill>
                <a:latin typeface="Consolas"/>
                <a:cs typeface="Consolas"/>
              </a:rPr>
              <a:t>resources</a:t>
            </a:r>
            <a:r>
              <a:rPr dirty="0" sz="1200" spc="-40">
                <a:solidFill>
                  <a:srgbClr val="FF898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FF8989"/>
                </a:solidFill>
                <a:latin typeface="Consolas"/>
                <a:cs typeface="Consolas"/>
              </a:rPr>
              <a:t>not</a:t>
            </a:r>
            <a:r>
              <a:rPr dirty="0" sz="1200" spc="-110">
                <a:solidFill>
                  <a:srgbClr val="FF8989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FF8989"/>
                </a:solidFill>
                <a:latin typeface="Consolas"/>
                <a:cs typeface="Consolas"/>
              </a:rPr>
              <a:t>available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Consolas"/>
              <a:cs typeface="Consolas"/>
            </a:endParaRPr>
          </a:p>
          <a:p>
            <a:pPr marL="358775" indent="-170815">
              <a:lnSpc>
                <a:spcPts val="1435"/>
              </a:lnSpc>
              <a:buChar char="&gt;"/>
              <a:tabLst>
                <a:tab pos="358775" algn="l"/>
              </a:tabLst>
            </a:pP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Request</a:t>
            </a:r>
            <a:r>
              <a:rPr dirty="0" sz="1200" spc="-70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P0</a:t>
            </a:r>
            <a:r>
              <a:rPr dirty="0" sz="1200" spc="10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[0</a:t>
            </a:r>
            <a:r>
              <a:rPr dirty="0" sz="1200" spc="-70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DE1D3"/>
                </a:solidFill>
                <a:latin typeface="Consolas"/>
                <a:cs typeface="Consolas"/>
              </a:rPr>
              <a:t>2</a:t>
            </a:r>
            <a:r>
              <a:rPr dirty="0" sz="1200" spc="10">
                <a:solidFill>
                  <a:srgbClr val="7DE1D3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7DE1D3"/>
                </a:solidFill>
                <a:latin typeface="Consolas"/>
                <a:cs typeface="Consolas"/>
              </a:rPr>
              <a:t>0]</a:t>
            </a:r>
            <a:endParaRPr sz="1200">
              <a:latin typeface="Consolas"/>
              <a:cs typeface="Consolas"/>
            </a:endParaRPr>
          </a:p>
          <a:p>
            <a:pPr marL="356235">
              <a:lnSpc>
                <a:spcPts val="1435"/>
              </a:lnSpc>
            </a:pPr>
            <a:r>
              <a:rPr dirty="0" sz="1200">
                <a:solidFill>
                  <a:srgbClr val="FF8989"/>
                </a:solidFill>
                <a:latin typeface="Consolas"/>
                <a:cs typeface="Consolas"/>
              </a:rPr>
              <a:t>DENIED:</a:t>
            </a:r>
            <a:r>
              <a:rPr dirty="0" sz="1200" spc="-25">
                <a:solidFill>
                  <a:srgbClr val="FF898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FF8989"/>
                </a:solidFill>
                <a:latin typeface="Consolas"/>
                <a:cs typeface="Consolas"/>
              </a:rPr>
              <a:t>leads</a:t>
            </a:r>
            <a:r>
              <a:rPr dirty="0" sz="1200" spc="-20">
                <a:solidFill>
                  <a:srgbClr val="FF898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FF8989"/>
                </a:solidFill>
                <a:latin typeface="Consolas"/>
                <a:cs typeface="Consolas"/>
              </a:rPr>
              <a:t>to</a:t>
            </a:r>
            <a:r>
              <a:rPr dirty="0" sz="1200" spc="-95">
                <a:solidFill>
                  <a:srgbClr val="FF8989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FF8989"/>
                </a:solidFill>
                <a:latin typeface="Consolas"/>
                <a:cs typeface="Consolas"/>
              </a:rPr>
              <a:t>UNSAFE</a:t>
            </a:r>
            <a:r>
              <a:rPr dirty="0" sz="1200" spc="-20">
                <a:solidFill>
                  <a:srgbClr val="FF8989"/>
                </a:solidFill>
                <a:latin typeface="Consolas"/>
                <a:cs typeface="Consolas"/>
              </a:rPr>
              <a:t> state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Testing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Validation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136650"/>
          <a:ext cx="8318500" cy="3289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2011680"/>
                <a:gridCol w="2011680"/>
                <a:gridCol w="2926080"/>
                <a:gridCol w="822959"/>
              </a:tblGrid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1E2A4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Scenario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1E2A4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Input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1E2A4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Expected</a:t>
                      </a:r>
                      <a:r>
                        <a:rPr dirty="0" sz="1250" spc="2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Output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1E2A4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1E2A49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Initial</a:t>
                      </a:r>
                      <a:r>
                        <a:rPr dirty="0" sz="1250" spc="14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safety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dirty="0" sz="1250" spc="10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SAFE,</a:t>
                      </a:r>
                      <a:r>
                        <a:rPr dirty="0" sz="1250" spc="10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5-process</a:t>
                      </a:r>
                      <a:r>
                        <a:rPr dirty="0" sz="1250" spc="17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sequence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 spc="-20" b="1">
                          <a:solidFill>
                            <a:srgbClr val="0E9D6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dirty="0" sz="1250" spc="1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matrix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[7,</a:t>
                      </a:r>
                      <a:r>
                        <a:rPr dirty="0" sz="1250" spc="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dirty="0" sz="1250" spc="1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3]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50" spc="-20" b="1">
                          <a:solidFill>
                            <a:srgbClr val="0E9D6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dirty="0" sz="1250" spc="-4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request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P1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[1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6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2]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Granted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50" spc="-20" b="1">
                          <a:solidFill>
                            <a:srgbClr val="0E9D6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250" spc="10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enough</a:t>
                      </a:r>
                      <a:r>
                        <a:rPr dirty="0" sz="1250" spc="1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resources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P4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[3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50" spc="6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0]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Denied:</a:t>
                      </a:r>
                      <a:r>
                        <a:rPr dirty="0" sz="1250" spc="9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dirty="0" sz="1250" spc="10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wait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50" spc="-20" b="1">
                          <a:solidFill>
                            <a:srgbClr val="0E9D6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Unsafe</a:t>
                      </a:r>
                      <a:r>
                        <a:rPr dirty="0" sz="1250" spc="10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request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P0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[0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0]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Denied:</a:t>
                      </a:r>
                      <a:r>
                        <a:rPr dirty="0" sz="1250" spc="1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unsafe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 spc="-20" b="1">
                          <a:solidFill>
                            <a:srgbClr val="0E9D6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Exceeds</a:t>
                      </a:r>
                      <a:r>
                        <a:rPr dirty="0" sz="1250" spc="10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dirty="0" sz="1250" spc="114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claim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P1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[5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250" spc="6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0]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Denied:</a:t>
                      </a:r>
                      <a:r>
                        <a:rPr dirty="0" sz="1250" spc="1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exceeds</a:t>
                      </a:r>
                      <a:r>
                        <a:rPr dirty="0" sz="1250" spc="1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maximum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50" spc="-20" b="1">
                          <a:solidFill>
                            <a:srgbClr val="0E9D6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Rollback</a:t>
                      </a:r>
                      <a:r>
                        <a:rPr dirty="0" sz="1250" spc="114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250" spc="114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denial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250" spc="7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dirty="0" sz="1250" spc="7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250" spc="8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unchanged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50" spc="-20" b="1">
                          <a:solidFill>
                            <a:srgbClr val="0E9D6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Deadlock</a:t>
                      </a:r>
                      <a:r>
                        <a:rPr dirty="0" sz="1250" spc="19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Avail</a:t>
                      </a:r>
                      <a:r>
                        <a:rPr dirty="0" sz="1250" spc="9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[0,0],</a:t>
                      </a:r>
                      <a:r>
                        <a:rPr dirty="0" sz="1250" spc="5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250" spc="3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procs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UNSAFE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 spc="-20" b="1">
                          <a:solidFill>
                            <a:srgbClr val="0E9D6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 spc="-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Invalid</a:t>
                      </a:r>
                      <a:r>
                        <a:rPr dirty="0" sz="1250" spc="18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input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Allocation</a:t>
                      </a:r>
                      <a:r>
                        <a:rPr dirty="0" sz="1250" spc="1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dirty="0" sz="1250" spc="114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5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Max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ValueError</a:t>
                      </a:r>
                      <a:r>
                        <a:rPr dirty="0" sz="1250" spc="12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E2A49"/>
                          </a:solidFill>
                          <a:latin typeface="Times New Roman"/>
                          <a:cs typeface="Times New Roman"/>
                        </a:rPr>
                        <a:t>raised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50" spc="-20" b="1">
                          <a:solidFill>
                            <a:srgbClr val="0E9D6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DDE2EA"/>
                      </a:solidFill>
                      <a:prstDash val="solid"/>
                    </a:lnL>
                    <a:lnR w="12700">
                      <a:solidFill>
                        <a:srgbClr val="DDE2EA"/>
                      </a:solidFill>
                      <a:prstDash val="solid"/>
                    </a:lnR>
                    <a:lnT w="12700">
                      <a:solidFill>
                        <a:srgbClr val="DDE2EA"/>
                      </a:solidFill>
                      <a:prstDash val="solid"/>
                    </a:lnT>
                    <a:lnB w="12700">
                      <a:solidFill>
                        <a:srgbClr val="DD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Results</a:t>
            </a:r>
            <a:r>
              <a:rPr dirty="0" spc="95"/>
              <a:t> </a:t>
            </a:r>
            <a:r>
              <a:rPr dirty="0"/>
              <a:t>and</a:t>
            </a:r>
            <a:r>
              <a:rPr dirty="0" spc="80"/>
              <a:t> </a:t>
            </a:r>
            <a:r>
              <a:rPr dirty="0" spc="-10"/>
              <a:t>Impact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962" y="1243075"/>
            <a:ext cx="2562225" cy="1276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</p:spPr>
        <p:txBody>
          <a:bodyPr wrap="square" lIns="0" tIns="160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3200" b="1">
                <a:solidFill>
                  <a:srgbClr val="13B8A6"/>
                </a:solidFill>
                <a:latin typeface="Times New Roman"/>
                <a:cs typeface="Times New Roman"/>
              </a:rPr>
              <a:t>9</a:t>
            </a:r>
            <a:r>
              <a:rPr dirty="0" sz="3200" spc="-20" b="1">
                <a:solidFill>
                  <a:srgbClr val="13B8A6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13B8A6"/>
                </a:solidFill>
                <a:latin typeface="Times New Roman"/>
                <a:cs typeface="Times New Roman"/>
              </a:rPr>
              <a:t>/</a:t>
            </a:r>
            <a:r>
              <a:rPr dirty="0" sz="3200" spc="25" b="1">
                <a:solidFill>
                  <a:srgbClr val="13B8A6"/>
                </a:solidFill>
                <a:latin typeface="Times New Roman"/>
                <a:cs typeface="Times New Roman"/>
              </a:rPr>
              <a:t> </a:t>
            </a:r>
            <a:r>
              <a:rPr dirty="0" sz="3200" spc="-60" b="1">
                <a:solidFill>
                  <a:srgbClr val="13B8A6"/>
                </a:solidFill>
                <a:latin typeface="Times New Roman"/>
                <a:cs typeface="Times New Roman"/>
              </a:rPr>
              <a:t>9</a:t>
            </a:r>
            <a:endParaRPr sz="3200">
              <a:latin typeface="Times New Roman"/>
              <a:cs typeface="Times New Roman"/>
            </a:endParaRPr>
          </a:p>
          <a:p>
            <a:pPr algn="ctr" marR="3175">
              <a:lnSpc>
                <a:spcPct val="100000"/>
              </a:lnSpc>
              <a:spcBef>
                <a:spcPts val="1595"/>
              </a:spcBef>
            </a:pP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Test</a:t>
            </a:r>
            <a:r>
              <a:rPr dirty="0" sz="1250" spc="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cases</a:t>
            </a:r>
            <a:r>
              <a:rPr dirty="0" sz="1250" spc="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495368"/>
                </a:solidFill>
                <a:latin typeface="Times New Roman"/>
                <a:cs typeface="Times New Roman"/>
              </a:rPr>
              <a:t>passed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0476" y="1243075"/>
            <a:ext cx="2552700" cy="1276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</p:spPr>
        <p:txBody>
          <a:bodyPr wrap="square" lIns="0" tIns="160020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1260"/>
              </a:spcBef>
            </a:pPr>
            <a:r>
              <a:rPr dirty="0" sz="3200" b="1">
                <a:solidFill>
                  <a:srgbClr val="13B8A6"/>
                </a:solidFill>
                <a:latin typeface="Times New Roman"/>
                <a:cs typeface="Times New Roman"/>
              </a:rPr>
              <a:t>5</a:t>
            </a:r>
            <a:r>
              <a:rPr dirty="0" sz="3200" spc="-20" b="1">
                <a:solidFill>
                  <a:srgbClr val="13B8A6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13B8A6"/>
                </a:solidFill>
                <a:latin typeface="Times New Roman"/>
                <a:cs typeface="Times New Roman"/>
              </a:rPr>
              <a:t>/</a:t>
            </a:r>
            <a:r>
              <a:rPr dirty="0" sz="3200" spc="35" b="1">
                <a:solidFill>
                  <a:srgbClr val="13B8A6"/>
                </a:solidFill>
                <a:latin typeface="Times New Roman"/>
                <a:cs typeface="Times New Roman"/>
              </a:rPr>
              <a:t> </a:t>
            </a:r>
            <a:r>
              <a:rPr dirty="0" sz="3200" spc="-50" b="1">
                <a:solidFill>
                  <a:srgbClr val="13B8A6"/>
                </a:solidFill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95"/>
              </a:spcBef>
            </a:pP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Processes</a:t>
            </a:r>
            <a:r>
              <a:rPr dirty="0" sz="1250" spc="7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finish</a:t>
            </a:r>
            <a:r>
              <a:rPr dirty="0" sz="1250" spc="9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in</a:t>
            </a:r>
            <a:r>
              <a:rPr dirty="0" sz="1250" spc="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safe</a:t>
            </a:r>
            <a:r>
              <a:rPr dirty="0" sz="1250" spc="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 spc="-20">
                <a:solidFill>
                  <a:srgbClr val="495368"/>
                </a:solidFill>
                <a:latin typeface="Times New Roman"/>
                <a:cs typeface="Times New Roman"/>
              </a:rPr>
              <a:t>order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9401" y="1243075"/>
            <a:ext cx="2562225" cy="1276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</p:spPr>
        <p:txBody>
          <a:bodyPr wrap="square" lIns="0" tIns="160020" rIns="0" bIns="0" rtlCol="0" vert="horz">
            <a:spAutoFit/>
          </a:bodyPr>
          <a:lstStyle/>
          <a:p>
            <a:pPr marL="444500">
              <a:lnSpc>
                <a:spcPct val="100000"/>
              </a:lnSpc>
              <a:spcBef>
                <a:spcPts val="1260"/>
              </a:spcBef>
            </a:pPr>
            <a:r>
              <a:rPr dirty="0" sz="3200" b="1">
                <a:solidFill>
                  <a:srgbClr val="13B8A6"/>
                </a:solidFill>
                <a:latin typeface="Times New Roman"/>
                <a:cs typeface="Times New Roman"/>
              </a:rPr>
              <a:t>O(m</a:t>
            </a:r>
            <a:r>
              <a:rPr dirty="0" sz="3200" spc="25" b="1">
                <a:solidFill>
                  <a:srgbClr val="13B8A6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13B8A6"/>
                </a:solidFill>
                <a:latin typeface="Times New Roman"/>
                <a:cs typeface="Times New Roman"/>
              </a:rPr>
              <a:t>x</a:t>
            </a:r>
            <a:r>
              <a:rPr dirty="0" sz="3200" spc="-20" b="1">
                <a:solidFill>
                  <a:srgbClr val="13B8A6"/>
                </a:solidFill>
                <a:latin typeface="Times New Roman"/>
                <a:cs typeface="Times New Roman"/>
              </a:rPr>
              <a:t> </a:t>
            </a:r>
            <a:r>
              <a:rPr dirty="0" sz="3200" spc="-25" b="1">
                <a:solidFill>
                  <a:srgbClr val="13B8A6"/>
                </a:solidFill>
                <a:latin typeface="Times New Roman"/>
                <a:cs typeface="Times New Roman"/>
              </a:rPr>
              <a:t>n²)</a:t>
            </a:r>
            <a:endParaRPr sz="3200">
              <a:latin typeface="Times New Roman"/>
              <a:cs typeface="Times New Roman"/>
            </a:endParaRPr>
          </a:p>
          <a:p>
            <a:pPr marL="467995">
              <a:lnSpc>
                <a:spcPct val="100000"/>
              </a:lnSpc>
              <a:spcBef>
                <a:spcPts val="1595"/>
              </a:spcBef>
            </a:pP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Safety</a:t>
            </a:r>
            <a:r>
              <a:rPr dirty="0" sz="1250" spc="10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95368"/>
                </a:solidFill>
                <a:latin typeface="Times New Roman"/>
                <a:cs typeface="Times New Roman"/>
              </a:rPr>
              <a:t>check</a:t>
            </a:r>
            <a:r>
              <a:rPr dirty="0" sz="1250" spc="10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495368"/>
                </a:solidFill>
                <a:latin typeface="Times New Roman"/>
                <a:cs typeface="Times New Roman"/>
              </a:rPr>
              <a:t>complexity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015" y="2699448"/>
            <a:ext cx="6639559" cy="11709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60"/>
              </a:spcBef>
              <a:buChar char="•"/>
              <a:tabLst>
                <a:tab pos="355600" algn="l"/>
              </a:tabLst>
            </a:pP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Every</a:t>
            </a:r>
            <a:r>
              <a:rPr dirty="0" sz="1700" spc="-1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unsafe</a:t>
            </a:r>
            <a:r>
              <a:rPr dirty="0" sz="1700" spc="-6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request</a:t>
            </a:r>
            <a:r>
              <a:rPr dirty="0" sz="1700" spc="-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was</a:t>
            </a:r>
            <a:r>
              <a:rPr dirty="0" sz="1700" spc="-4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blocked</a:t>
            </a:r>
            <a:r>
              <a:rPr dirty="0" sz="1700" spc="-1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and</a:t>
            </a:r>
            <a:r>
              <a:rPr dirty="0" sz="1700" spc="-1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the</a:t>
            </a:r>
            <a:r>
              <a:rPr dirty="0" sz="1700" spc="-6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system</a:t>
            </a:r>
            <a:r>
              <a:rPr dirty="0" sz="1700" spc="-4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state</a:t>
            </a:r>
            <a:r>
              <a:rPr dirty="0" sz="1700" spc="1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was</a:t>
            </a:r>
            <a:r>
              <a:rPr dirty="0" sz="1700" spc="3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1E2A49"/>
                </a:solidFill>
                <a:latin typeface="Times New Roman"/>
                <a:cs typeface="Times New Roman"/>
              </a:rPr>
              <a:t>restored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5"/>
              </a:spcBef>
              <a:buChar char="•"/>
              <a:tabLst>
                <a:tab pos="355600" algn="l"/>
              </a:tabLst>
            </a:pP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Deadlock</a:t>
            </a:r>
            <a:r>
              <a:rPr dirty="0" sz="1700" spc="-2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is</a:t>
            </a:r>
            <a:r>
              <a:rPr dirty="0" sz="1700" spc="-5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avoided</a:t>
            </a:r>
            <a:r>
              <a:rPr dirty="0" sz="1700" spc="-2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before</a:t>
            </a:r>
            <a:r>
              <a:rPr dirty="0" sz="1700" spc="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it</a:t>
            </a:r>
            <a:r>
              <a:rPr dirty="0" sz="1700" spc="-1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can</a:t>
            </a:r>
            <a:r>
              <a:rPr dirty="0" sz="1700" spc="-2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happen,</a:t>
            </a:r>
            <a:r>
              <a:rPr dirty="0" sz="1700" spc="-3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not</a:t>
            </a:r>
            <a:r>
              <a:rPr dirty="0" sz="1700" spc="-1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fixed</a:t>
            </a:r>
            <a:r>
              <a:rPr dirty="0" sz="1700" spc="-2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1E2A49"/>
                </a:solidFill>
                <a:latin typeface="Times New Roman"/>
                <a:cs typeface="Times New Roman"/>
              </a:rPr>
              <a:t>afterwards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5"/>
              </a:spcBef>
              <a:buChar char="•"/>
              <a:tabLst>
                <a:tab pos="355600" algn="l"/>
              </a:tabLst>
            </a:pPr>
            <a:r>
              <a:rPr dirty="0" sz="1700" spc="-10">
                <a:solidFill>
                  <a:srgbClr val="1E2A49"/>
                </a:solidFill>
                <a:latin typeface="Times New Roman"/>
                <a:cs typeface="Times New Roman"/>
              </a:rPr>
              <a:t>Real-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world</a:t>
            </a:r>
            <a:r>
              <a:rPr dirty="0" sz="1700" spc="-3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use:</a:t>
            </a:r>
            <a:r>
              <a:rPr dirty="0" sz="1700" spc="-2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operating</a:t>
            </a:r>
            <a:r>
              <a:rPr dirty="0" sz="1700" spc="-3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systems,</a:t>
            </a:r>
            <a:r>
              <a:rPr dirty="0" sz="1700" spc="-4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databases,</a:t>
            </a:r>
            <a:r>
              <a:rPr dirty="0" sz="1700" spc="-5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cloud</a:t>
            </a:r>
            <a:r>
              <a:rPr dirty="0" sz="1700" spc="-35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E2A49"/>
                </a:solidFill>
                <a:latin typeface="Times New Roman"/>
                <a:cs typeface="Times New Roman"/>
              </a:rPr>
              <a:t>resource</a:t>
            </a:r>
            <a:r>
              <a:rPr dirty="0" sz="1700" spc="-80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1E2A49"/>
                </a:solidFill>
                <a:latin typeface="Times New Roman"/>
                <a:cs typeface="Times New Roman"/>
              </a:rPr>
              <a:t>scheduling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Conclusion,</a:t>
            </a:r>
            <a:r>
              <a:rPr dirty="0" spc="80"/>
              <a:t> </a:t>
            </a:r>
            <a:r>
              <a:rPr dirty="0"/>
              <a:t>Future</a:t>
            </a:r>
            <a:r>
              <a:rPr dirty="0" spc="150"/>
              <a:t> </a:t>
            </a:r>
            <a:r>
              <a:rPr dirty="0"/>
              <a:t>Scope</a:t>
            </a:r>
            <a:r>
              <a:rPr dirty="0" spc="65"/>
              <a:t> </a:t>
            </a:r>
            <a:r>
              <a:rPr dirty="0"/>
              <a:t>and</a:t>
            </a:r>
            <a:r>
              <a:rPr dirty="0" spc="140"/>
              <a:t> </a:t>
            </a:r>
            <a:r>
              <a:rPr dirty="0" spc="-10"/>
              <a:t>Links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5612" y="1189100"/>
            <a:ext cx="3946525" cy="2117725"/>
            <a:chOff x="455612" y="1189100"/>
            <a:chExt cx="3946525" cy="2117725"/>
          </a:xfrm>
        </p:grpSpPr>
        <p:sp>
          <p:nvSpPr>
            <p:cNvPr id="4" name="object 4"/>
            <p:cNvSpPr/>
            <p:nvPr/>
          </p:nvSpPr>
          <p:spPr>
            <a:xfrm>
              <a:off x="533400" y="1195450"/>
              <a:ext cx="3862704" cy="2105025"/>
            </a:xfrm>
            <a:custGeom>
              <a:avLst/>
              <a:gdLst/>
              <a:ahLst/>
              <a:cxnLst/>
              <a:rect l="l" t="t" r="r" b="b"/>
              <a:pathLst>
                <a:path w="3862704" h="2105025">
                  <a:moveTo>
                    <a:pt x="0" y="2105025"/>
                  </a:moveTo>
                  <a:lnTo>
                    <a:pt x="3862387" y="2105025"/>
                  </a:lnTo>
                  <a:lnTo>
                    <a:pt x="3862387" y="0"/>
                  </a:lnTo>
                  <a:lnTo>
                    <a:pt x="0" y="0"/>
                  </a:lnTo>
                  <a:lnTo>
                    <a:pt x="0" y="2105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61962" y="1195450"/>
              <a:ext cx="3933825" cy="2105025"/>
            </a:xfrm>
            <a:custGeom>
              <a:avLst/>
              <a:gdLst/>
              <a:ahLst/>
              <a:cxnLst/>
              <a:rect l="l" t="t" r="r" b="b"/>
              <a:pathLst>
                <a:path w="3933825" h="2105025">
                  <a:moveTo>
                    <a:pt x="0" y="2105025"/>
                  </a:moveTo>
                  <a:lnTo>
                    <a:pt x="3933825" y="210502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210502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190624"/>
              <a:ext cx="76200" cy="2105025"/>
            </a:xfrm>
            <a:custGeom>
              <a:avLst/>
              <a:gdLst/>
              <a:ahLst/>
              <a:cxnLst/>
              <a:rect l="l" t="t" r="r" b="b"/>
              <a:pathLst>
                <a:path w="76200" h="2105025">
                  <a:moveTo>
                    <a:pt x="76200" y="0"/>
                  </a:moveTo>
                  <a:lnTo>
                    <a:pt x="0" y="0"/>
                  </a:lnTo>
                  <a:lnTo>
                    <a:pt x="0" y="2105025"/>
                  </a:lnTo>
                  <a:lnTo>
                    <a:pt x="76200" y="21050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3400" y="1177052"/>
            <a:ext cx="3856354" cy="1542415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305"/>
              </a:spcBef>
            </a:pPr>
            <a:r>
              <a:rPr dirty="0" sz="1700" spc="-10" b="1">
                <a:solidFill>
                  <a:srgbClr val="1E2A49"/>
                </a:solidFill>
                <a:latin typeface="Times New Roman"/>
                <a:cs typeface="Times New Roman"/>
              </a:rPr>
              <a:t>Conclusion</a:t>
            </a:r>
            <a:endParaRPr sz="1700">
              <a:latin typeface="Times New Roman"/>
              <a:cs typeface="Times New Roman"/>
            </a:endParaRPr>
          </a:p>
          <a:p>
            <a:pPr marL="152400" marR="488950">
              <a:lnSpc>
                <a:spcPct val="102400"/>
              </a:lnSpc>
              <a:spcBef>
                <a:spcPts val="1075"/>
              </a:spcBef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We</a:t>
            </a:r>
            <a:r>
              <a:rPr dirty="0" sz="1550" spc="9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built</a:t>
            </a:r>
            <a:r>
              <a:rPr dirty="0" sz="1550" spc="5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</a:t>
            </a:r>
            <a:r>
              <a:rPr dirty="0" sz="1550" spc="9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working</a:t>
            </a:r>
            <a:r>
              <a:rPr dirty="0" sz="1550" spc="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Banker's</a:t>
            </a:r>
            <a:r>
              <a:rPr dirty="0" sz="1550" spc="-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495368"/>
                </a:solidFill>
                <a:latin typeface="Times New Roman"/>
                <a:cs typeface="Times New Roman"/>
              </a:rPr>
              <a:t>Algorithm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resource</a:t>
            </a:r>
            <a:r>
              <a:rPr dirty="0" sz="1550" spc="1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manager</a:t>
            </a:r>
            <a:r>
              <a:rPr dirty="0" sz="1550" spc="1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that</a:t>
            </a:r>
            <a:r>
              <a:rPr dirty="0" sz="1550" spc="10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safely</a:t>
            </a:r>
            <a:r>
              <a:rPr dirty="0" sz="1550" spc="1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grants</a:t>
            </a:r>
            <a:r>
              <a:rPr dirty="0" sz="1550" spc="1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495368"/>
                </a:solidFill>
                <a:latin typeface="Times New Roman"/>
                <a:cs typeface="Times New Roman"/>
              </a:rPr>
              <a:t>or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denies</a:t>
            </a:r>
            <a:r>
              <a:rPr dirty="0" sz="1550" spc="14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requests</a:t>
            </a:r>
            <a:r>
              <a:rPr dirty="0" sz="1550" spc="1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and</a:t>
            </a:r>
            <a:r>
              <a:rPr dirty="0" sz="1550" spc="11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avoids</a:t>
            </a:r>
            <a:r>
              <a:rPr dirty="0" sz="1550" spc="14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deadlock.</a:t>
            </a:r>
            <a:r>
              <a:rPr dirty="0" sz="1550" spc="13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495368"/>
                </a:solidFill>
                <a:latin typeface="Times New Roman"/>
                <a:cs typeface="Times New Roman"/>
              </a:rPr>
              <a:t>It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passed</a:t>
            </a:r>
            <a:r>
              <a:rPr dirty="0" sz="1550" spc="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all</a:t>
            </a:r>
            <a:r>
              <a:rPr dirty="0" sz="1550" spc="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9</a:t>
            </a:r>
            <a:r>
              <a:rPr dirty="0" sz="1550" spc="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495368"/>
                </a:solidFill>
                <a:latin typeface="Times New Roman"/>
                <a:cs typeface="Times New Roman"/>
              </a:rPr>
              <a:t>tests.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51451" y="1189100"/>
            <a:ext cx="3946525" cy="2117725"/>
            <a:chOff x="4751451" y="1189100"/>
            <a:chExt cx="3946525" cy="2117725"/>
          </a:xfrm>
        </p:grpSpPr>
        <p:sp>
          <p:nvSpPr>
            <p:cNvPr id="9" name="object 9"/>
            <p:cNvSpPr/>
            <p:nvPr/>
          </p:nvSpPr>
          <p:spPr>
            <a:xfrm>
              <a:off x="4829175" y="1195450"/>
              <a:ext cx="3862704" cy="2105025"/>
            </a:xfrm>
            <a:custGeom>
              <a:avLst/>
              <a:gdLst/>
              <a:ahLst/>
              <a:cxnLst/>
              <a:rect l="l" t="t" r="r" b="b"/>
              <a:pathLst>
                <a:path w="3862704" h="2105025">
                  <a:moveTo>
                    <a:pt x="0" y="2105025"/>
                  </a:moveTo>
                  <a:lnTo>
                    <a:pt x="3862451" y="2105025"/>
                  </a:lnTo>
                  <a:lnTo>
                    <a:pt x="3862451" y="0"/>
                  </a:lnTo>
                  <a:lnTo>
                    <a:pt x="0" y="0"/>
                  </a:lnTo>
                  <a:lnTo>
                    <a:pt x="0" y="2105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757801" y="1195450"/>
              <a:ext cx="3933825" cy="2105025"/>
            </a:xfrm>
            <a:custGeom>
              <a:avLst/>
              <a:gdLst/>
              <a:ahLst/>
              <a:cxnLst/>
              <a:rect l="l" t="t" r="r" b="b"/>
              <a:pathLst>
                <a:path w="3933825" h="2105025">
                  <a:moveTo>
                    <a:pt x="0" y="2105025"/>
                  </a:moveTo>
                  <a:lnTo>
                    <a:pt x="3933825" y="210502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2105025"/>
                  </a:lnTo>
                  <a:close/>
                </a:path>
              </a:pathLst>
            </a:custGeom>
            <a:ln w="12700">
              <a:solidFill>
                <a:srgbClr val="DDE2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52975" y="1190624"/>
              <a:ext cx="76200" cy="2105025"/>
            </a:xfrm>
            <a:custGeom>
              <a:avLst/>
              <a:gdLst/>
              <a:ahLst/>
              <a:cxnLst/>
              <a:rect l="l" t="t" r="r" b="b"/>
              <a:pathLst>
                <a:path w="76200" h="2105025">
                  <a:moveTo>
                    <a:pt x="76200" y="0"/>
                  </a:moveTo>
                  <a:lnTo>
                    <a:pt x="0" y="0"/>
                  </a:lnTo>
                  <a:lnTo>
                    <a:pt x="0" y="2105025"/>
                  </a:lnTo>
                  <a:lnTo>
                    <a:pt x="76200" y="21050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829175" y="1187036"/>
            <a:ext cx="3856354" cy="144653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1230"/>
              </a:spcBef>
            </a:pPr>
            <a:r>
              <a:rPr dirty="0" sz="1700" b="1">
                <a:solidFill>
                  <a:srgbClr val="1E2A49"/>
                </a:solidFill>
                <a:latin typeface="Times New Roman"/>
                <a:cs typeface="Times New Roman"/>
              </a:rPr>
              <a:t>Future</a:t>
            </a:r>
            <a:r>
              <a:rPr dirty="0" sz="1700" spc="-50" b="1">
                <a:solidFill>
                  <a:srgbClr val="1E2A49"/>
                </a:solidFill>
                <a:latin typeface="Times New Roman"/>
                <a:cs typeface="Times New Roman"/>
              </a:rPr>
              <a:t> </a:t>
            </a:r>
            <a:r>
              <a:rPr dirty="0" sz="1700" spc="-20" b="1">
                <a:solidFill>
                  <a:srgbClr val="1E2A49"/>
                </a:solidFill>
                <a:latin typeface="Times New Roman"/>
                <a:cs typeface="Times New Roman"/>
              </a:rPr>
              <a:t>Scope</a:t>
            </a:r>
            <a:endParaRPr sz="1700">
              <a:latin typeface="Times New Roman"/>
              <a:cs typeface="Times New Roman"/>
            </a:endParaRPr>
          </a:p>
          <a:p>
            <a:pPr marL="159385">
              <a:lnSpc>
                <a:spcPct val="100000"/>
              </a:lnSpc>
              <a:spcBef>
                <a:spcPts val="1040"/>
              </a:spcBef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Graphical</a:t>
            </a:r>
            <a:r>
              <a:rPr dirty="0" sz="1550" spc="15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user</a:t>
            </a:r>
            <a:r>
              <a:rPr dirty="0" sz="1550" spc="15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495368"/>
                </a:solidFill>
                <a:latin typeface="Times New Roman"/>
                <a:cs typeface="Times New Roman"/>
              </a:rPr>
              <a:t>interface</a:t>
            </a:r>
            <a:endParaRPr sz="1550">
              <a:latin typeface="Times New Roman"/>
              <a:cs typeface="Times New Roman"/>
            </a:endParaRPr>
          </a:p>
          <a:p>
            <a:pPr marL="159385" marR="744220">
              <a:lnSpc>
                <a:spcPct val="137400"/>
              </a:lnSpc>
            </a:pP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Dynamic</a:t>
            </a:r>
            <a:r>
              <a:rPr dirty="0" sz="1550" spc="1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add/remove</a:t>
            </a:r>
            <a:r>
              <a:rPr dirty="0" sz="1550" spc="16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of</a:t>
            </a:r>
            <a:r>
              <a:rPr dirty="0" sz="1550" spc="10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495368"/>
                </a:solidFill>
                <a:latin typeface="Times New Roman"/>
                <a:cs typeface="Times New Roman"/>
              </a:rPr>
              <a:t>processes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Visualize</a:t>
            </a:r>
            <a:r>
              <a:rPr dirty="0" sz="1550" spc="9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safe</a:t>
            </a:r>
            <a:r>
              <a:rPr dirty="0" sz="1550" spc="10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sequence</a:t>
            </a:r>
            <a:r>
              <a:rPr dirty="0" sz="1550" spc="10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step</a:t>
            </a:r>
            <a:r>
              <a:rPr dirty="0" sz="1550" spc="80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5368"/>
                </a:solidFill>
                <a:latin typeface="Times New Roman"/>
                <a:cs typeface="Times New Roman"/>
              </a:rPr>
              <a:t>by</a:t>
            </a:r>
            <a:r>
              <a:rPr dirty="0" sz="1550" spc="85">
                <a:solidFill>
                  <a:srgbClr val="495368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495368"/>
                </a:solidFill>
                <a:latin typeface="Times New Roman"/>
                <a:cs typeface="Times New Roman"/>
              </a:rPr>
              <a:t>step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5000" y="4029709"/>
            <a:ext cx="11614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3B8A6"/>
                </a:solidFill>
                <a:latin typeface="Times New Roman"/>
                <a:cs typeface="Times New Roman"/>
              </a:rPr>
              <a:t>Thank</a:t>
            </a:r>
            <a:r>
              <a:rPr dirty="0" sz="1800" spc="-25" b="1">
                <a:solidFill>
                  <a:srgbClr val="13B8A6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13B8A6"/>
                </a:solidFill>
                <a:latin typeface="Times New Roman"/>
                <a:cs typeface="Times New Roman"/>
              </a:rPr>
              <a:t>you!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2026-10-17T05:07:26Z</dcterms:created>
  <dcterms:modified xsi:type="dcterms:W3CDTF">2026-10-17T05:07:26Z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2026-10-16T00:00:00Z</vt:filetime>
  </property>
  <property fmtid="{D5CDD505-2E9C-101B-9397-08002B2CF9AE}" pid="4" name="LastSaved">
    <vt:filetime>2026-10-17T00:00:00Z</vt:filetime>
  </property>
</Properties>
</file>